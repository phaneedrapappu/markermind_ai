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88825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E2F1D9D-9013-4A34-934C-D3A6CFD7CD4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24F0542-FB60-4FA1-A0C8-6C75E5AFD83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9347DB3-133A-4288-B269-AF3F57D084B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4D7378D-DB9A-453F-82D8-8CE61A34E4B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19CE923-B41D-4D02-BF30-223C19C7F81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120" y="273600"/>
            <a:ext cx="1096956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47C1298-2191-4C5D-BB57-8DEE2DFF589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DE35F27-36D1-43A8-B844-41443E101E1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DD908C9-E465-47E4-8797-08FD5AB6038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DE4DF7E-BA58-4BCF-92E7-6A5D7F8199D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120" y="368208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DEBD20A-2020-4481-B803-5F7E31B70DC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BA31D29-652C-42B9-89D0-FDC07525CDC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820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692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12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820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692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C7F72D1-CAA0-40A1-992D-24C906994FD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IN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5188995-06F7-4E7D-80CD-3717F90AF4BB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edit the title text </a:t>
            </a:r>
            <a:r>
              <a:rPr b="0" lang="en-IN" sz="4400" spc="-1" strike="noStrike">
                <a:latin typeface="Arial"/>
              </a:rPr>
              <a:t>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1"/>
          <p:cNvSpPr/>
          <p:nvPr/>
        </p:nvSpPr>
        <p:spPr>
          <a:xfrm>
            <a:off x="0" y="73080"/>
            <a:ext cx="12188160" cy="5400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" name="Rectangle 2"/>
          <p:cNvSpPr/>
          <p:nvPr/>
        </p:nvSpPr>
        <p:spPr>
          <a:xfrm>
            <a:off x="6858000" y="0"/>
            <a:ext cx="5485680" cy="6857280"/>
          </a:xfrm>
          <a:prstGeom prst="rect">
            <a:avLst/>
          </a:prstGeom>
          <a:solidFill>
            <a:srgbClr val="1a2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" name="TextBox 3"/>
          <p:cNvSpPr/>
          <p:nvPr/>
        </p:nvSpPr>
        <p:spPr>
          <a:xfrm>
            <a:off x="548640" y="1463040"/>
            <a:ext cx="6400080" cy="88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5200" spc="-1" strike="noStrike">
                <a:solidFill>
                  <a:srgbClr val="ffffff"/>
                </a:solidFill>
                <a:latin typeface="Calibri"/>
                <a:ea typeface="DejaVu Sans"/>
              </a:rPr>
              <a:t>MarketMind AI</a:t>
            </a:r>
            <a:endParaRPr b="0" lang="en-IN" sz="5200" spc="-1" strike="noStrike">
              <a:latin typeface="Arial"/>
            </a:endParaRPr>
          </a:p>
        </p:txBody>
      </p:sp>
      <p:sp>
        <p:nvSpPr>
          <p:cNvPr id="44" name="Rectangle 4"/>
          <p:cNvSpPr/>
          <p:nvPr/>
        </p:nvSpPr>
        <p:spPr>
          <a:xfrm>
            <a:off x="548640" y="2606040"/>
            <a:ext cx="2925360" cy="6336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5" name="TextBox 5"/>
          <p:cNvSpPr/>
          <p:nvPr/>
        </p:nvSpPr>
        <p:spPr>
          <a:xfrm>
            <a:off x="548640" y="2743200"/>
            <a:ext cx="64000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2000" spc="-1" strike="noStrike">
                <a:solidFill>
                  <a:srgbClr val="cbd5e1"/>
                </a:solidFill>
                <a:latin typeface="Calibri"/>
                <a:ea typeface="DejaVu Sans"/>
              </a:rPr>
              <a:t>Autonomous Multi-Agent Financial Intelligence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6" name="TextBox 6"/>
          <p:cNvSpPr/>
          <p:nvPr/>
        </p:nvSpPr>
        <p:spPr>
          <a:xfrm>
            <a:off x="548640" y="3401640"/>
            <a:ext cx="457128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64748b"/>
                </a:solidFill>
                <a:latin typeface="Calibri"/>
                <a:ea typeface="DejaVu Sans"/>
              </a:rPr>
              <a:t>MVP Demo  •  May 2026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7" name="TextBox 7"/>
          <p:cNvSpPr/>
          <p:nvPr/>
        </p:nvSpPr>
        <p:spPr>
          <a:xfrm>
            <a:off x="7406640" y="1645920"/>
            <a:ext cx="4114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38bdf8"/>
                </a:solidFill>
                <a:latin typeface="Calibri"/>
                <a:ea typeface="DejaVu Sans"/>
              </a:rPr>
              <a:t>🤖  </a:t>
            </a:r>
            <a:r>
              <a:rPr b="0" lang="en-US" sz="1800" spc="-1" strike="noStrike">
                <a:solidFill>
                  <a:srgbClr val="38bdf8"/>
                </a:solidFill>
                <a:latin typeface="Calibri"/>
                <a:ea typeface="DejaVu Sans"/>
              </a:rPr>
              <a:t>6 AI Agents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8" name="TextBox 8"/>
          <p:cNvSpPr/>
          <p:nvPr/>
        </p:nvSpPr>
        <p:spPr>
          <a:xfrm>
            <a:off x="7406640" y="2194560"/>
            <a:ext cx="4114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📈 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Real-time NSE Data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9" name="TextBox 9"/>
          <p:cNvSpPr/>
          <p:nvPr/>
        </p:nvSpPr>
        <p:spPr>
          <a:xfrm>
            <a:off x="7406640" y="2743200"/>
            <a:ext cx="4114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🧠 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Gemini 2.5-Flash LLM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0" name="TextBox 10"/>
          <p:cNvSpPr/>
          <p:nvPr/>
        </p:nvSpPr>
        <p:spPr>
          <a:xfrm>
            <a:off x="7406640" y="3291840"/>
            <a:ext cx="4114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📧 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Personalized Email Digests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1" name="TextBox 11"/>
          <p:cNvSpPr/>
          <p:nvPr/>
        </p:nvSpPr>
        <p:spPr>
          <a:xfrm>
            <a:off x="7406640" y="3840480"/>
            <a:ext cx="4114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🌐 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India + Global Market News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2" name="TextBox 12"/>
          <p:cNvSpPr/>
          <p:nvPr/>
        </p:nvSpPr>
        <p:spPr>
          <a:xfrm>
            <a:off x="7406640" y="4389120"/>
            <a:ext cx="41140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⏰ 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Fully Automated  •  Zero Manual Work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3" name="TextBox 13"/>
          <p:cNvSpPr/>
          <p:nvPr/>
        </p:nvSpPr>
        <p:spPr>
          <a:xfrm>
            <a:off x="11704320" y="6492240"/>
            <a:ext cx="3650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1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1"/>
          <p:cNvSpPr/>
          <p:nvPr/>
        </p:nvSpPr>
        <p:spPr>
          <a:xfrm>
            <a:off x="0" y="73080"/>
            <a:ext cx="12188160" cy="5400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5" name="TextBox 2"/>
          <p:cNvSpPr/>
          <p:nvPr/>
        </p:nvSpPr>
        <p:spPr>
          <a:xfrm>
            <a:off x="548640" y="274320"/>
            <a:ext cx="731448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DejaVu Sans"/>
              </a:rPr>
              <a:t>The Problem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56" name="Rectangle 3"/>
          <p:cNvSpPr/>
          <p:nvPr/>
        </p:nvSpPr>
        <p:spPr>
          <a:xfrm>
            <a:off x="548640" y="868680"/>
            <a:ext cx="1645200" cy="4500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7" name="Rectangle 4"/>
          <p:cNvSpPr/>
          <p:nvPr/>
        </p:nvSpPr>
        <p:spPr>
          <a:xfrm>
            <a:off x="502920" y="1097280"/>
            <a:ext cx="11154960" cy="867960"/>
          </a:xfrm>
          <a:prstGeom prst="rect">
            <a:avLst/>
          </a:prstGeom>
          <a:solidFill>
            <a:srgbClr val="1a2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8" name="Rectangle 5"/>
          <p:cNvSpPr/>
          <p:nvPr/>
        </p:nvSpPr>
        <p:spPr>
          <a:xfrm>
            <a:off x="502920" y="1097280"/>
            <a:ext cx="63360" cy="867960"/>
          </a:xfrm>
          <a:prstGeom prst="rect">
            <a:avLst/>
          </a:prstGeom>
          <a:solidFill>
            <a:srgbClr val="ef44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9" name="TextBox 6"/>
          <p:cNvSpPr/>
          <p:nvPr/>
        </p:nvSpPr>
        <p:spPr>
          <a:xfrm>
            <a:off x="713160" y="1170360"/>
            <a:ext cx="365688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🔴 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Information Overload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0" name="TextBox 7"/>
          <p:cNvSpPr/>
          <p:nvPr/>
        </p:nvSpPr>
        <p:spPr>
          <a:xfrm>
            <a:off x="4480560" y="1170360"/>
            <a:ext cx="70401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  <a:ea typeface="DejaVu Sans"/>
              </a:rPr>
              <a:t>100s of news articles daily — impossible to track every stock manually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1" name="Rectangle 8"/>
          <p:cNvSpPr/>
          <p:nvPr/>
        </p:nvSpPr>
        <p:spPr>
          <a:xfrm>
            <a:off x="502920" y="2103120"/>
            <a:ext cx="11154960" cy="867960"/>
          </a:xfrm>
          <a:prstGeom prst="rect">
            <a:avLst/>
          </a:prstGeom>
          <a:solidFill>
            <a:srgbClr val="1a2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2" name="Rectangle 9"/>
          <p:cNvSpPr/>
          <p:nvPr/>
        </p:nvSpPr>
        <p:spPr>
          <a:xfrm>
            <a:off x="502920" y="2103120"/>
            <a:ext cx="63360" cy="867960"/>
          </a:xfrm>
          <a:prstGeom prst="rect">
            <a:avLst/>
          </a:prstGeom>
          <a:solidFill>
            <a:srgbClr val="ef44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3" name="TextBox 10"/>
          <p:cNvSpPr/>
          <p:nvPr/>
        </p:nvSpPr>
        <p:spPr>
          <a:xfrm>
            <a:off x="713160" y="2176200"/>
            <a:ext cx="365688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🔴 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Missed Opportunities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4" name="TextBox 11"/>
          <p:cNvSpPr/>
          <p:nvPr/>
        </p:nvSpPr>
        <p:spPr>
          <a:xfrm>
            <a:off x="4480560" y="2176200"/>
            <a:ext cx="70401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  <a:ea typeface="DejaVu Sans"/>
              </a:rPr>
              <a:t>Market moves happen fast; retail investors react too late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5" name="Rectangle 12"/>
          <p:cNvSpPr/>
          <p:nvPr/>
        </p:nvSpPr>
        <p:spPr>
          <a:xfrm>
            <a:off x="502920" y="3108960"/>
            <a:ext cx="11154960" cy="867960"/>
          </a:xfrm>
          <a:prstGeom prst="rect">
            <a:avLst/>
          </a:prstGeom>
          <a:solidFill>
            <a:srgbClr val="1a2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6" name="Rectangle 13"/>
          <p:cNvSpPr/>
          <p:nvPr/>
        </p:nvSpPr>
        <p:spPr>
          <a:xfrm>
            <a:off x="502920" y="3108960"/>
            <a:ext cx="63360" cy="867960"/>
          </a:xfrm>
          <a:prstGeom prst="rect">
            <a:avLst/>
          </a:prstGeom>
          <a:solidFill>
            <a:srgbClr val="ef44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7" name="TextBox 14"/>
          <p:cNvSpPr/>
          <p:nvPr/>
        </p:nvSpPr>
        <p:spPr>
          <a:xfrm>
            <a:off x="713160" y="3182040"/>
            <a:ext cx="365688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🔴 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No Personalisation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8" name="TextBox 15"/>
          <p:cNvSpPr/>
          <p:nvPr/>
        </p:nvSpPr>
        <p:spPr>
          <a:xfrm>
            <a:off x="4480560" y="3182040"/>
            <a:ext cx="70401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  <a:ea typeface="DejaVu Sans"/>
              </a:rPr>
              <a:t>Generic newsletters don't match your watchlist or risk appetite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9" name="Rectangle 16"/>
          <p:cNvSpPr/>
          <p:nvPr/>
        </p:nvSpPr>
        <p:spPr>
          <a:xfrm>
            <a:off x="502920" y="4114800"/>
            <a:ext cx="11154960" cy="867960"/>
          </a:xfrm>
          <a:prstGeom prst="rect">
            <a:avLst/>
          </a:prstGeom>
          <a:solidFill>
            <a:srgbClr val="1a2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0" name="Rectangle 17"/>
          <p:cNvSpPr/>
          <p:nvPr/>
        </p:nvSpPr>
        <p:spPr>
          <a:xfrm>
            <a:off x="502920" y="4114800"/>
            <a:ext cx="63360" cy="867960"/>
          </a:xfrm>
          <a:prstGeom prst="rect">
            <a:avLst/>
          </a:prstGeom>
          <a:solidFill>
            <a:srgbClr val="ef44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1" name="TextBox 18"/>
          <p:cNvSpPr/>
          <p:nvPr/>
        </p:nvSpPr>
        <p:spPr>
          <a:xfrm>
            <a:off x="713160" y="4187880"/>
            <a:ext cx="365688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🔴 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Manual Analysis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2" name="TextBox 19"/>
          <p:cNvSpPr/>
          <p:nvPr/>
        </p:nvSpPr>
        <p:spPr>
          <a:xfrm>
            <a:off x="4480560" y="4187880"/>
            <a:ext cx="70401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  <a:ea typeface="DejaVu Sans"/>
              </a:rPr>
              <a:t>Chart reading, sentiment tracking — time-consuming and error-prone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3" name="Rectangle 20"/>
          <p:cNvSpPr/>
          <p:nvPr/>
        </p:nvSpPr>
        <p:spPr>
          <a:xfrm>
            <a:off x="502920" y="5120640"/>
            <a:ext cx="11154960" cy="867960"/>
          </a:xfrm>
          <a:prstGeom prst="rect">
            <a:avLst/>
          </a:prstGeom>
          <a:solidFill>
            <a:srgbClr val="1a2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4" name="Rectangle 21"/>
          <p:cNvSpPr/>
          <p:nvPr/>
        </p:nvSpPr>
        <p:spPr>
          <a:xfrm>
            <a:off x="502920" y="5120640"/>
            <a:ext cx="63360" cy="867960"/>
          </a:xfrm>
          <a:prstGeom prst="rect">
            <a:avLst/>
          </a:prstGeom>
          <a:solidFill>
            <a:srgbClr val="ef44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5" name="TextBox 22"/>
          <p:cNvSpPr/>
          <p:nvPr/>
        </p:nvSpPr>
        <p:spPr>
          <a:xfrm>
            <a:off x="713160" y="5193720"/>
            <a:ext cx="365688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🔴 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Fragmented Data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6" name="TextBox 23"/>
          <p:cNvSpPr/>
          <p:nvPr/>
        </p:nvSpPr>
        <p:spPr>
          <a:xfrm>
            <a:off x="4480560" y="5193720"/>
            <a:ext cx="70401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  <a:ea typeface="DejaVu Sans"/>
              </a:rPr>
              <a:t>Price data, news, and AI analysis live in different places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7" name="TextBox 24"/>
          <p:cNvSpPr/>
          <p:nvPr/>
        </p:nvSpPr>
        <p:spPr>
          <a:xfrm>
            <a:off x="11704320" y="6492240"/>
            <a:ext cx="3650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2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1"/>
          <p:cNvSpPr/>
          <p:nvPr/>
        </p:nvSpPr>
        <p:spPr>
          <a:xfrm>
            <a:off x="0" y="73080"/>
            <a:ext cx="12188160" cy="5400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9" name="TextBox 2"/>
          <p:cNvSpPr/>
          <p:nvPr/>
        </p:nvSpPr>
        <p:spPr>
          <a:xfrm>
            <a:off x="548640" y="274320"/>
            <a:ext cx="731448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DejaVu Sans"/>
              </a:rPr>
              <a:t>Our Solution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80" name="Rectangle 3"/>
          <p:cNvSpPr/>
          <p:nvPr/>
        </p:nvSpPr>
        <p:spPr>
          <a:xfrm>
            <a:off x="548640" y="868680"/>
            <a:ext cx="1645200" cy="4500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1" name="TextBox 4"/>
          <p:cNvSpPr/>
          <p:nvPr/>
        </p:nvSpPr>
        <p:spPr>
          <a:xfrm>
            <a:off x="548640" y="1005840"/>
            <a:ext cx="1097208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cbd5e1"/>
                </a:solidFill>
                <a:latin typeface="Calibri"/>
                <a:ea typeface="DejaVu Sans"/>
              </a:rPr>
              <a:t>MarketMind AI is a fully autonomous platform that monitors NSE markets,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cbd5e1"/>
                </a:solidFill>
                <a:latin typeface="Calibri"/>
                <a:ea typeface="DejaVu Sans"/>
              </a:rPr>
              <a:t>runs AI analysis, and delivers personalised signals to your inbox — 24/7.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82" name="Rectangle 5"/>
          <p:cNvSpPr/>
          <p:nvPr/>
        </p:nvSpPr>
        <p:spPr>
          <a:xfrm>
            <a:off x="502920" y="1874520"/>
            <a:ext cx="11154960" cy="803880"/>
          </a:xfrm>
          <a:prstGeom prst="rect">
            <a:avLst/>
          </a:prstGeom>
          <a:solidFill>
            <a:srgbClr val="1a2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3" name="Rectangle 6"/>
          <p:cNvSpPr/>
          <p:nvPr/>
        </p:nvSpPr>
        <p:spPr>
          <a:xfrm>
            <a:off x="502920" y="1874520"/>
            <a:ext cx="63360" cy="80388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4" name="TextBox 7"/>
          <p:cNvSpPr/>
          <p:nvPr/>
        </p:nvSpPr>
        <p:spPr>
          <a:xfrm>
            <a:off x="713160" y="1947600"/>
            <a:ext cx="365688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✅ 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Zero Manual Work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5" name="TextBox 8"/>
          <p:cNvSpPr/>
          <p:nvPr/>
        </p:nvSpPr>
        <p:spPr>
          <a:xfrm>
            <a:off x="4480560" y="1947600"/>
            <a:ext cx="70401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  <a:ea typeface="DejaVu Sans"/>
              </a:rPr>
              <a:t>Pipeline runs on schedule — pre-market 08:45 &amp; post-market 16:15 IST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6" name="Rectangle 9"/>
          <p:cNvSpPr/>
          <p:nvPr/>
        </p:nvSpPr>
        <p:spPr>
          <a:xfrm>
            <a:off x="502920" y="2788920"/>
            <a:ext cx="11154960" cy="803880"/>
          </a:xfrm>
          <a:prstGeom prst="rect">
            <a:avLst/>
          </a:prstGeom>
          <a:solidFill>
            <a:srgbClr val="1a2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7" name="Rectangle 10"/>
          <p:cNvSpPr/>
          <p:nvPr/>
        </p:nvSpPr>
        <p:spPr>
          <a:xfrm>
            <a:off x="502920" y="2788920"/>
            <a:ext cx="63360" cy="80388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8" name="TextBox 11"/>
          <p:cNvSpPr/>
          <p:nvPr/>
        </p:nvSpPr>
        <p:spPr>
          <a:xfrm>
            <a:off x="713160" y="2862000"/>
            <a:ext cx="365688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✅ 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AI-Powered Signals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9" name="TextBox 12"/>
          <p:cNvSpPr/>
          <p:nvPr/>
        </p:nvSpPr>
        <p:spPr>
          <a:xfrm>
            <a:off x="4480560" y="2862000"/>
            <a:ext cx="70401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  <a:ea typeface="DejaVu Sans"/>
              </a:rPr>
              <a:t>Gemini 2.5-Flash analyses each stock and generates BUY / SELL / HOLD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0" name="Rectangle 13"/>
          <p:cNvSpPr/>
          <p:nvPr/>
        </p:nvSpPr>
        <p:spPr>
          <a:xfrm>
            <a:off x="502920" y="3703320"/>
            <a:ext cx="11154960" cy="803880"/>
          </a:xfrm>
          <a:prstGeom prst="rect">
            <a:avLst/>
          </a:prstGeom>
          <a:solidFill>
            <a:srgbClr val="1a2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1" name="Rectangle 14"/>
          <p:cNvSpPr/>
          <p:nvPr/>
        </p:nvSpPr>
        <p:spPr>
          <a:xfrm>
            <a:off x="502920" y="3703320"/>
            <a:ext cx="63360" cy="80388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2" name="TextBox 15"/>
          <p:cNvSpPr/>
          <p:nvPr/>
        </p:nvSpPr>
        <p:spPr>
          <a:xfrm>
            <a:off x="713160" y="3776400"/>
            <a:ext cx="365688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✅ 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Personalised Digests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93" name="TextBox 16"/>
          <p:cNvSpPr/>
          <p:nvPr/>
        </p:nvSpPr>
        <p:spPr>
          <a:xfrm>
            <a:off x="4480560" y="3776400"/>
            <a:ext cx="70401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  <a:ea typeface="DejaVu Sans"/>
              </a:rPr>
              <a:t>Each subscriber gets their own watchlist digest, not a generic blast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4" name="Rectangle 17"/>
          <p:cNvSpPr/>
          <p:nvPr/>
        </p:nvSpPr>
        <p:spPr>
          <a:xfrm>
            <a:off x="502920" y="4617720"/>
            <a:ext cx="11154960" cy="803880"/>
          </a:xfrm>
          <a:prstGeom prst="rect">
            <a:avLst/>
          </a:prstGeom>
          <a:solidFill>
            <a:srgbClr val="1a2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5" name="Rectangle 18"/>
          <p:cNvSpPr/>
          <p:nvPr/>
        </p:nvSpPr>
        <p:spPr>
          <a:xfrm>
            <a:off x="502920" y="4617720"/>
            <a:ext cx="63360" cy="80388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6" name="TextBox 19"/>
          <p:cNvSpPr/>
          <p:nvPr/>
        </p:nvSpPr>
        <p:spPr>
          <a:xfrm>
            <a:off x="713160" y="4690800"/>
            <a:ext cx="365688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✅ 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India + Global News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97" name="TextBox 20"/>
          <p:cNvSpPr/>
          <p:nvPr/>
        </p:nvSpPr>
        <p:spPr>
          <a:xfrm>
            <a:off x="4480560" y="4690800"/>
            <a:ext cx="70401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  <a:ea typeface="DejaVu Sans"/>
              </a:rPr>
              <a:t>NSE stocks news + Reuters, Yahoo Finance, Google News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8" name="Rectangle 21"/>
          <p:cNvSpPr/>
          <p:nvPr/>
        </p:nvSpPr>
        <p:spPr>
          <a:xfrm>
            <a:off x="502920" y="5532120"/>
            <a:ext cx="11154960" cy="803880"/>
          </a:xfrm>
          <a:prstGeom prst="rect">
            <a:avLst/>
          </a:prstGeom>
          <a:solidFill>
            <a:srgbClr val="1a2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9" name="Rectangle 22"/>
          <p:cNvSpPr/>
          <p:nvPr/>
        </p:nvSpPr>
        <p:spPr>
          <a:xfrm>
            <a:off x="502920" y="5532120"/>
            <a:ext cx="63360" cy="80388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0" name="TextBox 23"/>
          <p:cNvSpPr/>
          <p:nvPr/>
        </p:nvSpPr>
        <p:spPr>
          <a:xfrm>
            <a:off x="713160" y="5605200"/>
            <a:ext cx="365688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✅ 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One Dashboard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01" name="TextBox 24"/>
          <p:cNvSpPr/>
          <p:nvPr/>
        </p:nvSpPr>
        <p:spPr>
          <a:xfrm>
            <a:off x="4480560" y="5605200"/>
            <a:ext cx="70401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  <a:ea typeface="DejaVu Sans"/>
              </a:rPr>
              <a:t>Signals, news, analysis, alerts — all in one real-time web UI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2" name="TextBox 25"/>
          <p:cNvSpPr/>
          <p:nvPr/>
        </p:nvSpPr>
        <p:spPr>
          <a:xfrm>
            <a:off x="11704320" y="6492240"/>
            <a:ext cx="3650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3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"/>
          <p:cNvSpPr/>
          <p:nvPr/>
        </p:nvSpPr>
        <p:spPr>
          <a:xfrm>
            <a:off x="0" y="73080"/>
            <a:ext cx="12188160" cy="5400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4" name="TextBox 2"/>
          <p:cNvSpPr/>
          <p:nvPr/>
        </p:nvSpPr>
        <p:spPr>
          <a:xfrm>
            <a:off x="548640" y="274320"/>
            <a:ext cx="914328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DejaVu Sans"/>
              </a:rPr>
              <a:t>System Architecture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05" name="Rectangle 3"/>
          <p:cNvSpPr/>
          <p:nvPr/>
        </p:nvSpPr>
        <p:spPr>
          <a:xfrm>
            <a:off x="548640" y="868680"/>
            <a:ext cx="2193840" cy="4500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6" name="Rectangle 4"/>
          <p:cNvSpPr/>
          <p:nvPr/>
        </p:nvSpPr>
        <p:spPr>
          <a:xfrm>
            <a:off x="320040" y="1143000"/>
            <a:ext cx="1782360" cy="2010960"/>
          </a:xfrm>
          <a:prstGeom prst="rect">
            <a:avLst/>
          </a:prstGeom>
          <a:solidFill>
            <a:srgbClr val="1a2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7" name="Rectangle 5"/>
          <p:cNvSpPr/>
          <p:nvPr/>
        </p:nvSpPr>
        <p:spPr>
          <a:xfrm>
            <a:off x="320040" y="1143000"/>
            <a:ext cx="1782360" cy="7236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8" name="TextBox 6"/>
          <p:cNvSpPr/>
          <p:nvPr/>
        </p:nvSpPr>
        <p:spPr>
          <a:xfrm>
            <a:off x="411480" y="1261800"/>
            <a:ext cx="164520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38bdf8"/>
                </a:solidFill>
                <a:latin typeface="Calibri"/>
                <a:ea typeface="DejaVu Sans"/>
              </a:rPr>
              <a:t>1  MarketDataAgent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9" name="TextBox 7"/>
          <p:cNvSpPr/>
          <p:nvPr/>
        </p:nvSpPr>
        <p:spPr>
          <a:xfrm>
            <a:off x="411480" y="1691640"/>
            <a:ext cx="162684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DejaVu Sans"/>
              </a:rPr>
              <a:t>NSE live price, volume,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DejaVu Sans"/>
              </a:rPr>
              <a:t>P/E, 52w high/low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10" name="TextBox 8"/>
          <p:cNvSpPr/>
          <p:nvPr/>
        </p:nvSpPr>
        <p:spPr>
          <a:xfrm>
            <a:off x="2103120" y="1737360"/>
            <a:ext cx="227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38bdf8"/>
                </a:solidFill>
                <a:latin typeface="Calibri"/>
                <a:ea typeface="DejaVu Sans"/>
              </a:rPr>
              <a:t>→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1" name="Rectangle 9"/>
          <p:cNvSpPr/>
          <p:nvPr/>
        </p:nvSpPr>
        <p:spPr>
          <a:xfrm>
            <a:off x="2286000" y="1143000"/>
            <a:ext cx="1782360" cy="2010960"/>
          </a:xfrm>
          <a:prstGeom prst="rect">
            <a:avLst/>
          </a:prstGeom>
          <a:solidFill>
            <a:srgbClr val="1a2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2" name="Rectangle 10"/>
          <p:cNvSpPr/>
          <p:nvPr/>
        </p:nvSpPr>
        <p:spPr>
          <a:xfrm>
            <a:off x="2286000" y="1143000"/>
            <a:ext cx="1782360" cy="7236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3" name="TextBox 11"/>
          <p:cNvSpPr/>
          <p:nvPr/>
        </p:nvSpPr>
        <p:spPr>
          <a:xfrm>
            <a:off x="2377440" y="1261800"/>
            <a:ext cx="16452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38bdf8"/>
                </a:solidFill>
                <a:latin typeface="Calibri"/>
                <a:ea typeface="DejaVu Sans"/>
              </a:rPr>
              <a:t>2  NewsAgent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4" name="TextBox 12"/>
          <p:cNvSpPr/>
          <p:nvPr/>
        </p:nvSpPr>
        <p:spPr>
          <a:xfrm>
            <a:off x="2377440" y="1691640"/>
            <a:ext cx="1626840" cy="69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DejaVu Sans"/>
              </a:rPr>
              <a:t>Indian + Global RSS feeds,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DejaVu Sans"/>
              </a:rPr>
              <a:t>sentiment classification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15" name="TextBox 13"/>
          <p:cNvSpPr/>
          <p:nvPr/>
        </p:nvSpPr>
        <p:spPr>
          <a:xfrm>
            <a:off x="4069080" y="1737360"/>
            <a:ext cx="227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38bdf8"/>
                </a:solidFill>
                <a:latin typeface="Calibri"/>
                <a:ea typeface="DejaVu Sans"/>
              </a:rPr>
              <a:t>→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6" name="Rectangle 14"/>
          <p:cNvSpPr/>
          <p:nvPr/>
        </p:nvSpPr>
        <p:spPr>
          <a:xfrm>
            <a:off x="4251960" y="1143000"/>
            <a:ext cx="1782360" cy="2010960"/>
          </a:xfrm>
          <a:prstGeom prst="rect">
            <a:avLst/>
          </a:prstGeom>
          <a:solidFill>
            <a:srgbClr val="1a2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7" name="Rectangle 15"/>
          <p:cNvSpPr/>
          <p:nvPr/>
        </p:nvSpPr>
        <p:spPr>
          <a:xfrm>
            <a:off x="4251960" y="1143000"/>
            <a:ext cx="1782360" cy="7236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8" name="TextBox 16"/>
          <p:cNvSpPr/>
          <p:nvPr/>
        </p:nvSpPr>
        <p:spPr>
          <a:xfrm>
            <a:off x="4343400" y="1261800"/>
            <a:ext cx="164520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f59e0b"/>
                </a:solidFill>
                <a:latin typeface="Calibri"/>
                <a:ea typeface="DejaVu Sans"/>
              </a:rPr>
              <a:t>3  AIAnalysisAgent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9" name="TextBox 17"/>
          <p:cNvSpPr/>
          <p:nvPr/>
        </p:nvSpPr>
        <p:spPr>
          <a:xfrm>
            <a:off x="4343400" y="1691640"/>
            <a:ext cx="162684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DejaVu Sans"/>
              </a:rPr>
              <a:t>Gemini 2.5-Flash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DejaVu Sans"/>
              </a:rPr>
              <a:t>Bullish / Bearish / Neutral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20" name="TextBox 18"/>
          <p:cNvSpPr/>
          <p:nvPr/>
        </p:nvSpPr>
        <p:spPr>
          <a:xfrm>
            <a:off x="6035040" y="1737360"/>
            <a:ext cx="227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38bdf8"/>
                </a:solidFill>
                <a:latin typeface="Calibri"/>
                <a:ea typeface="DejaVu Sans"/>
              </a:rPr>
              <a:t>→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1" name="Rectangle 19"/>
          <p:cNvSpPr/>
          <p:nvPr/>
        </p:nvSpPr>
        <p:spPr>
          <a:xfrm>
            <a:off x="6217920" y="1143000"/>
            <a:ext cx="1782360" cy="2010960"/>
          </a:xfrm>
          <a:prstGeom prst="rect">
            <a:avLst/>
          </a:prstGeom>
          <a:solidFill>
            <a:srgbClr val="1a2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2" name="Rectangle 20"/>
          <p:cNvSpPr/>
          <p:nvPr/>
        </p:nvSpPr>
        <p:spPr>
          <a:xfrm>
            <a:off x="6217920" y="1143000"/>
            <a:ext cx="1782360" cy="7236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3" name="TextBox 21"/>
          <p:cNvSpPr/>
          <p:nvPr/>
        </p:nvSpPr>
        <p:spPr>
          <a:xfrm>
            <a:off x="6309360" y="1261800"/>
            <a:ext cx="164520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22c55e"/>
                </a:solidFill>
                <a:latin typeface="Calibri"/>
                <a:ea typeface="DejaVu Sans"/>
              </a:rPr>
              <a:t>4  SignalGenerator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4" name="TextBox 22"/>
          <p:cNvSpPr/>
          <p:nvPr/>
        </p:nvSpPr>
        <p:spPr>
          <a:xfrm>
            <a:off x="6309360" y="1691640"/>
            <a:ext cx="162684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DejaVu Sans"/>
              </a:rPr>
              <a:t>BUY / SELL / HOLD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DejaVu Sans"/>
              </a:rPr>
              <a:t>confidence + risk level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25" name="TextBox 23"/>
          <p:cNvSpPr/>
          <p:nvPr/>
        </p:nvSpPr>
        <p:spPr>
          <a:xfrm>
            <a:off x="8001000" y="1737360"/>
            <a:ext cx="227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38bdf8"/>
                </a:solidFill>
                <a:latin typeface="Calibri"/>
                <a:ea typeface="DejaVu Sans"/>
              </a:rPr>
              <a:t>→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6" name="Rectangle 24"/>
          <p:cNvSpPr/>
          <p:nvPr/>
        </p:nvSpPr>
        <p:spPr>
          <a:xfrm>
            <a:off x="8183880" y="1143000"/>
            <a:ext cx="1782360" cy="2010960"/>
          </a:xfrm>
          <a:prstGeom prst="rect">
            <a:avLst/>
          </a:prstGeom>
          <a:solidFill>
            <a:srgbClr val="1a2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7" name="Rectangle 25"/>
          <p:cNvSpPr/>
          <p:nvPr/>
        </p:nvSpPr>
        <p:spPr>
          <a:xfrm>
            <a:off x="8183880" y="1143000"/>
            <a:ext cx="1782360" cy="7236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8" name="TextBox 26"/>
          <p:cNvSpPr/>
          <p:nvPr/>
        </p:nvSpPr>
        <p:spPr>
          <a:xfrm>
            <a:off x="8275320" y="1261800"/>
            <a:ext cx="164520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38bdf8"/>
                </a:solidFill>
                <a:latin typeface="Calibri"/>
                <a:ea typeface="DejaVu Sans"/>
              </a:rPr>
              <a:t>5  ReportGenerator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9" name="TextBox 27"/>
          <p:cNvSpPr/>
          <p:nvPr/>
        </p:nvSpPr>
        <p:spPr>
          <a:xfrm>
            <a:off x="8275320" y="1691640"/>
            <a:ext cx="162684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DejaVu Sans"/>
              </a:rPr>
              <a:t>Charts + HTML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DejaVu Sans"/>
              </a:rPr>
              <a:t>summary report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30" name="TextBox 28"/>
          <p:cNvSpPr/>
          <p:nvPr/>
        </p:nvSpPr>
        <p:spPr>
          <a:xfrm>
            <a:off x="9966960" y="1737360"/>
            <a:ext cx="227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38bdf8"/>
                </a:solidFill>
                <a:latin typeface="Calibri"/>
                <a:ea typeface="DejaVu Sans"/>
              </a:rPr>
              <a:t>→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1" name="Rectangle 29"/>
          <p:cNvSpPr/>
          <p:nvPr/>
        </p:nvSpPr>
        <p:spPr>
          <a:xfrm>
            <a:off x="10149840" y="1143000"/>
            <a:ext cx="1782360" cy="2010960"/>
          </a:xfrm>
          <a:prstGeom prst="rect">
            <a:avLst/>
          </a:prstGeom>
          <a:solidFill>
            <a:srgbClr val="1a2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2" name="Rectangle 30"/>
          <p:cNvSpPr/>
          <p:nvPr/>
        </p:nvSpPr>
        <p:spPr>
          <a:xfrm>
            <a:off x="10149840" y="1143000"/>
            <a:ext cx="1782360" cy="7236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3" name="TextBox 31"/>
          <p:cNvSpPr/>
          <p:nvPr/>
        </p:nvSpPr>
        <p:spPr>
          <a:xfrm>
            <a:off x="10241280" y="1261800"/>
            <a:ext cx="164520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38bdf8"/>
                </a:solidFill>
                <a:latin typeface="Calibri"/>
                <a:ea typeface="DejaVu Sans"/>
              </a:rPr>
              <a:t>6  EmailAlertAgent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4" name="TextBox 32"/>
          <p:cNvSpPr/>
          <p:nvPr/>
        </p:nvSpPr>
        <p:spPr>
          <a:xfrm>
            <a:off x="10241280" y="1691640"/>
            <a:ext cx="162684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DejaVu Sans"/>
              </a:rPr>
              <a:t>Personalised digest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DejaVu Sans"/>
              </a:rPr>
              <a:t>+ unsubscribe footer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35" name="Rectangle 33"/>
          <p:cNvSpPr/>
          <p:nvPr/>
        </p:nvSpPr>
        <p:spPr>
          <a:xfrm>
            <a:off x="320040" y="3337560"/>
            <a:ext cx="11520720" cy="410760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6" name="TextBox 34"/>
          <p:cNvSpPr/>
          <p:nvPr/>
        </p:nvSpPr>
        <p:spPr>
          <a:xfrm>
            <a:off x="457200" y="3383280"/>
            <a:ext cx="111549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38bdf8"/>
                </a:solidFill>
                <a:latin typeface="Calibri"/>
                <a:ea typeface="DejaVu Sans"/>
              </a:rPr>
              <a:t>Orchestrator  (src/orchestrator.py)  —  coordinates full pipeline, applies per-subscriber overrides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7" name="Rectangle 35"/>
          <p:cNvSpPr/>
          <p:nvPr/>
        </p:nvSpPr>
        <p:spPr>
          <a:xfrm>
            <a:off x="457200" y="3931920"/>
            <a:ext cx="1416600" cy="346680"/>
          </a:xfrm>
          <a:prstGeom prst="rect">
            <a:avLst/>
          </a:prstGeom>
          <a:solidFill>
            <a:srgbClr val="1a2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8" name="TextBox 36"/>
          <p:cNvSpPr/>
          <p:nvPr/>
        </p:nvSpPr>
        <p:spPr>
          <a:xfrm>
            <a:off x="457200" y="3931920"/>
            <a:ext cx="14166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alibri"/>
                <a:ea typeface="DejaVu Sans"/>
              </a:rPr>
              <a:t>Python 3.10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39" name="Rectangle 37"/>
          <p:cNvSpPr/>
          <p:nvPr/>
        </p:nvSpPr>
        <p:spPr>
          <a:xfrm>
            <a:off x="2011680" y="3931920"/>
            <a:ext cx="1416600" cy="346680"/>
          </a:xfrm>
          <a:prstGeom prst="rect">
            <a:avLst/>
          </a:prstGeom>
          <a:solidFill>
            <a:srgbClr val="1a2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0" name="TextBox 38"/>
          <p:cNvSpPr/>
          <p:nvPr/>
        </p:nvSpPr>
        <p:spPr>
          <a:xfrm>
            <a:off x="2011680" y="3931920"/>
            <a:ext cx="14166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Flask 3.x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1" name="Rectangle 39"/>
          <p:cNvSpPr/>
          <p:nvPr/>
        </p:nvSpPr>
        <p:spPr>
          <a:xfrm>
            <a:off x="3566160" y="3931920"/>
            <a:ext cx="1416600" cy="346680"/>
          </a:xfrm>
          <a:prstGeom prst="rect">
            <a:avLst/>
          </a:prstGeom>
          <a:solidFill>
            <a:srgbClr val="1a2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2" name="TextBox 40"/>
          <p:cNvSpPr/>
          <p:nvPr/>
        </p:nvSpPr>
        <p:spPr>
          <a:xfrm>
            <a:off x="3566160" y="3931920"/>
            <a:ext cx="141660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SQLite / SQLAlchemy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3" name="Rectangle 41"/>
          <p:cNvSpPr/>
          <p:nvPr/>
        </p:nvSpPr>
        <p:spPr>
          <a:xfrm>
            <a:off x="5120640" y="3931920"/>
            <a:ext cx="1416600" cy="346680"/>
          </a:xfrm>
          <a:prstGeom prst="rect">
            <a:avLst/>
          </a:prstGeom>
          <a:solidFill>
            <a:srgbClr val="1a2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4" name="TextBox 42"/>
          <p:cNvSpPr/>
          <p:nvPr/>
        </p:nvSpPr>
        <p:spPr>
          <a:xfrm>
            <a:off x="5120640" y="3931920"/>
            <a:ext cx="14166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f59e0b"/>
                </a:solidFill>
                <a:latin typeface="Calibri"/>
                <a:ea typeface="DejaVu Sans"/>
              </a:rPr>
              <a:t>APScheduler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5" name="Rectangle 43"/>
          <p:cNvSpPr/>
          <p:nvPr/>
        </p:nvSpPr>
        <p:spPr>
          <a:xfrm>
            <a:off x="6675120" y="3931920"/>
            <a:ext cx="1416600" cy="346680"/>
          </a:xfrm>
          <a:prstGeom prst="rect">
            <a:avLst/>
          </a:prstGeom>
          <a:solidFill>
            <a:srgbClr val="1a2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6" name="TextBox 44"/>
          <p:cNvSpPr/>
          <p:nvPr/>
        </p:nvSpPr>
        <p:spPr>
          <a:xfrm>
            <a:off x="6675120" y="3931920"/>
            <a:ext cx="14166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Chart.js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7" name="Rectangle 45"/>
          <p:cNvSpPr/>
          <p:nvPr/>
        </p:nvSpPr>
        <p:spPr>
          <a:xfrm>
            <a:off x="8229600" y="3931920"/>
            <a:ext cx="1416600" cy="346680"/>
          </a:xfrm>
          <a:prstGeom prst="rect">
            <a:avLst/>
          </a:prstGeom>
          <a:solidFill>
            <a:srgbClr val="1a2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8" name="TextBox 46"/>
          <p:cNvSpPr/>
          <p:nvPr/>
        </p:nvSpPr>
        <p:spPr>
          <a:xfrm>
            <a:off x="8229600" y="3931920"/>
            <a:ext cx="14166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Bootstrap 5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9" name="Rectangle 47"/>
          <p:cNvSpPr/>
          <p:nvPr/>
        </p:nvSpPr>
        <p:spPr>
          <a:xfrm>
            <a:off x="9784080" y="3931920"/>
            <a:ext cx="1416600" cy="346680"/>
          </a:xfrm>
          <a:prstGeom prst="rect">
            <a:avLst/>
          </a:prstGeom>
          <a:solidFill>
            <a:srgbClr val="1a2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0" name="TextBox 48"/>
          <p:cNvSpPr/>
          <p:nvPr/>
        </p:nvSpPr>
        <p:spPr>
          <a:xfrm>
            <a:off x="9784080" y="3931920"/>
            <a:ext cx="14166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22c55e"/>
                </a:solidFill>
                <a:latin typeface="Calibri"/>
                <a:ea typeface="DejaVu Sans"/>
              </a:rPr>
              <a:t>Gmail SMTP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51" name="TextBox 49"/>
          <p:cNvSpPr/>
          <p:nvPr/>
        </p:nvSpPr>
        <p:spPr>
          <a:xfrm>
            <a:off x="457200" y="3749040"/>
            <a:ext cx="3656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  <a:ea typeface="DejaVu Sans"/>
              </a:rPr>
              <a:t>Tech Stack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52" name="Rectangle 50"/>
          <p:cNvSpPr/>
          <p:nvPr/>
        </p:nvSpPr>
        <p:spPr>
          <a:xfrm>
            <a:off x="320040" y="4480560"/>
            <a:ext cx="11520720" cy="1645200"/>
          </a:xfrm>
          <a:prstGeom prst="rect">
            <a:avLst/>
          </a:prstGeom>
          <a:solidFill>
            <a:srgbClr val="1a2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3" name="Rectangle 51"/>
          <p:cNvSpPr/>
          <p:nvPr/>
        </p:nvSpPr>
        <p:spPr>
          <a:xfrm>
            <a:off x="320040" y="4480560"/>
            <a:ext cx="11520720" cy="63360"/>
          </a:xfrm>
          <a:prstGeom prst="rect">
            <a:avLst/>
          </a:prstGeom>
          <a:solidFill>
            <a:srgbClr val="64748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4" name="TextBox 52"/>
          <p:cNvSpPr/>
          <p:nvPr/>
        </p:nvSpPr>
        <p:spPr>
          <a:xfrm>
            <a:off x="548640" y="4572000"/>
            <a:ext cx="109720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DejaVu Sans"/>
              </a:rPr>
              <a:t>SQLite Database  —  6 tables: StockData · NewsRecord · AnalysisReport · TradingSignal · AlertRecord · SubscriberRecord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55" name="TextBox 53"/>
          <p:cNvSpPr/>
          <p:nvPr/>
        </p:nvSpPr>
        <p:spPr>
          <a:xfrm>
            <a:off x="548640" y="4983480"/>
            <a:ext cx="109720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DejaVu Sans"/>
              </a:rPr>
              <a:t>REST API  —  19 endpoints  ·  Flask-served Jinja2 HTML  ·  JSON APIs consumed by Chart.js + vanilla JS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56" name="TextBox 54"/>
          <p:cNvSpPr/>
          <p:nvPr/>
        </p:nvSpPr>
        <p:spPr>
          <a:xfrm>
            <a:off x="548640" y="5394960"/>
            <a:ext cx="109720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59e0b"/>
                </a:solidFill>
                <a:latin typeface="Calibri"/>
                <a:ea typeface="DejaVu Sans"/>
              </a:rPr>
              <a:t>Scheduled: APScheduler CronTrigger  08:45 IST (pre-market)  +  16:15 IST (post-market)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57" name="TextBox 55"/>
          <p:cNvSpPr/>
          <p:nvPr/>
        </p:nvSpPr>
        <p:spPr>
          <a:xfrm>
            <a:off x="11704320" y="6492240"/>
            <a:ext cx="3650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4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Rectangle 1"/>
          <p:cNvSpPr/>
          <p:nvPr/>
        </p:nvSpPr>
        <p:spPr>
          <a:xfrm>
            <a:off x="0" y="73080"/>
            <a:ext cx="12188160" cy="5400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9" name="TextBox 2"/>
          <p:cNvSpPr/>
          <p:nvPr/>
        </p:nvSpPr>
        <p:spPr>
          <a:xfrm>
            <a:off x="548640" y="274320"/>
            <a:ext cx="914328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DejaVu Sans"/>
              </a:rPr>
              <a:t>What We've Built  —  MVP Features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60" name="Rectangle 3"/>
          <p:cNvSpPr/>
          <p:nvPr/>
        </p:nvSpPr>
        <p:spPr>
          <a:xfrm>
            <a:off x="548640" y="868680"/>
            <a:ext cx="3199680" cy="4500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1" name="Rectangle 4"/>
          <p:cNvSpPr/>
          <p:nvPr/>
        </p:nvSpPr>
        <p:spPr>
          <a:xfrm>
            <a:off x="365760" y="1097280"/>
            <a:ext cx="5577120" cy="749160"/>
          </a:xfrm>
          <a:prstGeom prst="rect">
            <a:avLst/>
          </a:prstGeom>
          <a:solidFill>
            <a:srgbClr val="1a2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2" name="Rectangle 5"/>
          <p:cNvSpPr/>
          <p:nvPr/>
        </p:nvSpPr>
        <p:spPr>
          <a:xfrm>
            <a:off x="365760" y="1097280"/>
            <a:ext cx="63360" cy="74916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3" name="TextBox 6"/>
          <p:cNvSpPr/>
          <p:nvPr/>
        </p:nvSpPr>
        <p:spPr>
          <a:xfrm>
            <a:off x="548640" y="1152000"/>
            <a:ext cx="2742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22c55e"/>
                </a:solidFill>
                <a:latin typeface="Calibri"/>
                <a:ea typeface="DejaVu Sans"/>
              </a:rPr>
              <a:t>Real-time Dashboard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4" name="TextBox 7"/>
          <p:cNvSpPr/>
          <p:nvPr/>
        </p:nvSpPr>
        <p:spPr>
          <a:xfrm>
            <a:off x="548640" y="1463040"/>
            <a:ext cx="52113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DejaVu Sans"/>
              </a:rPr>
              <a:t>Signals, news, charts, alerts in one UI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65" name="Rectangle 8"/>
          <p:cNvSpPr/>
          <p:nvPr/>
        </p:nvSpPr>
        <p:spPr>
          <a:xfrm>
            <a:off x="365760" y="1965960"/>
            <a:ext cx="5577120" cy="749160"/>
          </a:xfrm>
          <a:prstGeom prst="rect">
            <a:avLst/>
          </a:prstGeom>
          <a:solidFill>
            <a:srgbClr val="1a2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6" name="Rectangle 9"/>
          <p:cNvSpPr/>
          <p:nvPr/>
        </p:nvSpPr>
        <p:spPr>
          <a:xfrm>
            <a:off x="365760" y="1965960"/>
            <a:ext cx="63360" cy="74916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7" name="TextBox 10"/>
          <p:cNvSpPr/>
          <p:nvPr/>
        </p:nvSpPr>
        <p:spPr>
          <a:xfrm>
            <a:off x="548640" y="2020680"/>
            <a:ext cx="2742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22c55e"/>
                </a:solidFill>
                <a:latin typeface="Calibri"/>
                <a:ea typeface="DejaVu Sans"/>
              </a:rPr>
              <a:t>6-Agent AI Pipeline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8" name="TextBox 11"/>
          <p:cNvSpPr/>
          <p:nvPr/>
        </p:nvSpPr>
        <p:spPr>
          <a:xfrm>
            <a:off x="548640" y="2331720"/>
            <a:ext cx="52113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DejaVu Sans"/>
              </a:rPr>
              <a:t>End-to-end from raw data → email digest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69" name="Rectangle 12"/>
          <p:cNvSpPr/>
          <p:nvPr/>
        </p:nvSpPr>
        <p:spPr>
          <a:xfrm>
            <a:off x="365760" y="2834640"/>
            <a:ext cx="5577120" cy="749160"/>
          </a:xfrm>
          <a:prstGeom prst="rect">
            <a:avLst/>
          </a:prstGeom>
          <a:solidFill>
            <a:srgbClr val="1a2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0" name="Rectangle 13"/>
          <p:cNvSpPr/>
          <p:nvPr/>
        </p:nvSpPr>
        <p:spPr>
          <a:xfrm>
            <a:off x="365760" y="2834640"/>
            <a:ext cx="63360" cy="74916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1" name="TextBox 14"/>
          <p:cNvSpPr/>
          <p:nvPr/>
        </p:nvSpPr>
        <p:spPr>
          <a:xfrm>
            <a:off x="548640" y="2889360"/>
            <a:ext cx="2742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22c55e"/>
                </a:solidFill>
                <a:latin typeface="Calibri"/>
                <a:ea typeface="DejaVu Sans"/>
              </a:rPr>
              <a:t>Gemini 2.5-Flash Analysis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2" name="TextBox 15"/>
          <p:cNvSpPr/>
          <p:nvPr/>
        </p:nvSpPr>
        <p:spPr>
          <a:xfrm>
            <a:off x="548640" y="3200400"/>
            <a:ext cx="52113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DejaVu Sans"/>
              </a:rPr>
              <a:t>Per-stock sentiment + key factors from LLM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73" name="Rectangle 16"/>
          <p:cNvSpPr/>
          <p:nvPr/>
        </p:nvSpPr>
        <p:spPr>
          <a:xfrm>
            <a:off x="365760" y="3703320"/>
            <a:ext cx="5577120" cy="749160"/>
          </a:xfrm>
          <a:prstGeom prst="rect">
            <a:avLst/>
          </a:prstGeom>
          <a:solidFill>
            <a:srgbClr val="1a2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4" name="Rectangle 17"/>
          <p:cNvSpPr/>
          <p:nvPr/>
        </p:nvSpPr>
        <p:spPr>
          <a:xfrm>
            <a:off x="365760" y="3703320"/>
            <a:ext cx="63360" cy="74916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5" name="TextBox 18"/>
          <p:cNvSpPr/>
          <p:nvPr/>
        </p:nvSpPr>
        <p:spPr>
          <a:xfrm>
            <a:off x="548640" y="3758040"/>
            <a:ext cx="2742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22c55e"/>
                </a:solidFill>
                <a:latin typeface="Calibri"/>
                <a:ea typeface="DejaVu Sans"/>
              </a:rPr>
              <a:t>BUY / SELL / HOLD Signals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6" name="TextBox 19"/>
          <p:cNvSpPr/>
          <p:nvPr/>
        </p:nvSpPr>
        <p:spPr>
          <a:xfrm>
            <a:off x="548640" y="4069080"/>
            <a:ext cx="52113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DejaVu Sans"/>
              </a:rPr>
              <a:t>Confidence score + risk level per signal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77" name="Rectangle 20"/>
          <p:cNvSpPr/>
          <p:nvPr/>
        </p:nvSpPr>
        <p:spPr>
          <a:xfrm>
            <a:off x="365760" y="4572000"/>
            <a:ext cx="5577120" cy="749160"/>
          </a:xfrm>
          <a:prstGeom prst="rect">
            <a:avLst/>
          </a:prstGeom>
          <a:solidFill>
            <a:srgbClr val="1a2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8" name="Rectangle 21"/>
          <p:cNvSpPr/>
          <p:nvPr/>
        </p:nvSpPr>
        <p:spPr>
          <a:xfrm>
            <a:off x="365760" y="4572000"/>
            <a:ext cx="63360" cy="74916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9" name="TextBox 22"/>
          <p:cNvSpPr/>
          <p:nvPr/>
        </p:nvSpPr>
        <p:spPr>
          <a:xfrm>
            <a:off x="548640" y="4626720"/>
            <a:ext cx="2742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22c55e"/>
                </a:solidFill>
                <a:latin typeface="Calibri"/>
                <a:ea typeface="DejaVu Sans"/>
              </a:rPr>
              <a:t>1700+ NSE Stocks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80" name="TextBox 23"/>
          <p:cNvSpPr/>
          <p:nvPr/>
        </p:nvSpPr>
        <p:spPr>
          <a:xfrm>
            <a:off x="548640" y="4937760"/>
            <a:ext cx="52113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DejaVu Sans"/>
              </a:rPr>
              <a:t>Live NSE CSV catalog, 6-hour cache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1" name="Rectangle 24"/>
          <p:cNvSpPr/>
          <p:nvPr/>
        </p:nvSpPr>
        <p:spPr>
          <a:xfrm>
            <a:off x="365760" y="5440680"/>
            <a:ext cx="5577120" cy="749160"/>
          </a:xfrm>
          <a:prstGeom prst="rect">
            <a:avLst/>
          </a:prstGeom>
          <a:solidFill>
            <a:srgbClr val="1a2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2" name="Rectangle 25"/>
          <p:cNvSpPr/>
          <p:nvPr/>
        </p:nvSpPr>
        <p:spPr>
          <a:xfrm>
            <a:off x="365760" y="5440680"/>
            <a:ext cx="63360" cy="74916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3" name="TextBox 26"/>
          <p:cNvSpPr/>
          <p:nvPr/>
        </p:nvSpPr>
        <p:spPr>
          <a:xfrm>
            <a:off x="548640" y="5495400"/>
            <a:ext cx="2742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22c55e"/>
                </a:solidFill>
                <a:latin typeface="Calibri"/>
                <a:ea typeface="DejaVu Sans"/>
              </a:rPr>
              <a:t>India + Global News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84" name="TextBox 27"/>
          <p:cNvSpPr/>
          <p:nvPr/>
        </p:nvSpPr>
        <p:spPr>
          <a:xfrm>
            <a:off x="548640" y="5806440"/>
            <a:ext cx="52113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DejaVu Sans"/>
              </a:rPr>
              <a:t>6 international RSS feeds + per-stock feeds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5" name="Rectangle 28"/>
          <p:cNvSpPr/>
          <p:nvPr/>
        </p:nvSpPr>
        <p:spPr>
          <a:xfrm>
            <a:off x="6263640" y="1097280"/>
            <a:ext cx="5577120" cy="749160"/>
          </a:xfrm>
          <a:prstGeom prst="rect">
            <a:avLst/>
          </a:prstGeom>
          <a:solidFill>
            <a:srgbClr val="1a2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6" name="Rectangle 29"/>
          <p:cNvSpPr/>
          <p:nvPr/>
        </p:nvSpPr>
        <p:spPr>
          <a:xfrm>
            <a:off x="6263640" y="1097280"/>
            <a:ext cx="63360" cy="74916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7" name="TextBox 30"/>
          <p:cNvSpPr/>
          <p:nvPr/>
        </p:nvSpPr>
        <p:spPr>
          <a:xfrm>
            <a:off x="6446520" y="1152000"/>
            <a:ext cx="29253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38bdf8"/>
                </a:solidFill>
                <a:latin typeface="Calibri"/>
                <a:ea typeface="DejaVu Sans"/>
              </a:rPr>
              <a:t>Email Subscription System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88" name="TextBox 31"/>
          <p:cNvSpPr/>
          <p:nvPr/>
        </p:nvSpPr>
        <p:spPr>
          <a:xfrm>
            <a:off x="6446520" y="1463040"/>
            <a:ext cx="52113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DejaVu Sans"/>
              </a:rPr>
              <a:t>Self-service subscribe / update / unsubscribe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9" name="Rectangle 32"/>
          <p:cNvSpPr/>
          <p:nvPr/>
        </p:nvSpPr>
        <p:spPr>
          <a:xfrm>
            <a:off x="6263640" y="1965960"/>
            <a:ext cx="5577120" cy="749160"/>
          </a:xfrm>
          <a:prstGeom prst="rect">
            <a:avLst/>
          </a:prstGeom>
          <a:solidFill>
            <a:srgbClr val="1a2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0" name="Rectangle 33"/>
          <p:cNvSpPr/>
          <p:nvPr/>
        </p:nvSpPr>
        <p:spPr>
          <a:xfrm>
            <a:off x="6263640" y="1965960"/>
            <a:ext cx="63360" cy="74916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1" name="TextBox 34"/>
          <p:cNvSpPr/>
          <p:nvPr/>
        </p:nvSpPr>
        <p:spPr>
          <a:xfrm>
            <a:off x="6446520" y="2020680"/>
            <a:ext cx="29253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38bdf8"/>
                </a:solidFill>
                <a:latin typeface="Calibri"/>
                <a:ea typeface="DejaVu Sans"/>
              </a:rPr>
              <a:t>Personalised Digests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92" name="TextBox 35"/>
          <p:cNvSpPr/>
          <p:nvPr/>
        </p:nvSpPr>
        <p:spPr>
          <a:xfrm>
            <a:off x="6446520" y="2331720"/>
            <a:ext cx="52113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DejaVu Sans"/>
              </a:rPr>
              <a:t>Each subscriber gets their own watchlist email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93" name="Rectangle 36"/>
          <p:cNvSpPr/>
          <p:nvPr/>
        </p:nvSpPr>
        <p:spPr>
          <a:xfrm>
            <a:off x="6263640" y="2834640"/>
            <a:ext cx="5577120" cy="749160"/>
          </a:xfrm>
          <a:prstGeom prst="rect">
            <a:avLst/>
          </a:prstGeom>
          <a:solidFill>
            <a:srgbClr val="1a2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4" name="Rectangle 37"/>
          <p:cNvSpPr/>
          <p:nvPr/>
        </p:nvSpPr>
        <p:spPr>
          <a:xfrm>
            <a:off x="6263640" y="2834640"/>
            <a:ext cx="63360" cy="74916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5" name="TextBox 38"/>
          <p:cNvSpPr/>
          <p:nvPr/>
        </p:nvSpPr>
        <p:spPr>
          <a:xfrm>
            <a:off x="6446520" y="2889360"/>
            <a:ext cx="29253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38bdf8"/>
                </a:solidFill>
                <a:latin typeface="Calibri"/>
                <a:ea typeface="DejaVu Sans"/>
              </a:rPr>
              <a:t>Welcome &amp; Update Emails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96" name="TextBox 39"/>
          <p:cNvSpPr/>
          <p:nvPr/>
        </p:nvSpPr>
        <p:spPr>
          <a:xfrm>
            <a:off x="6446520" y="3200400"/>
            <a:ext cx="52113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DejaVu Sans"/>
              </a:rPr>
              <a:t>Sent immediately on subscribe / watchlist change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97" name="Rectangle 40"/>
          <p:cNvSpPr/>
          <p:nvPr/>
        </p:nvSpPr>
        <p:spPr>
          <a:xfrm>
            <a:off x="6263640" y="3703320"/>
            <a:ext cx="5577120" cy="749160"/>
          </a:xfrm>
          <a:prstGeom prst="rect">
            <a:avLst/>
          </a:prstGeom>
          <a:solidFill>
            <a:srgbClr val="1a2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8" name="Rectangle 41"/>
          <p:cNvSpPr/>
          <p:nvPr/>
        </p:nvSpPr>
        <p:spPr>
          <a:xfrm>
            <a:off x="6263640" y="3703320"/>
            <a:ext cx="63360" cy="74916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9" name="TextBox 42"/>
          <p:cNvSpPr/>
          <p:nvPr/>
        </p:nvSpPr>
        <p:spPr>
          <a:xfrm>
            <a:off x="6446520" y="3758040"/>
            <a:ext cx="29253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38bdf8"/>
                </a:solidFill>
                <a:latin typeface="Calibri"/>
                <a:ea typeface="DejaVu Sans"/>
              </a:rPr>
              <a:t>One-Click Unsubscribe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00" name="TextBox 43"/>
          <p:cNvSpPr/>
          <p:nvPr/>
        </p:nvSpPr>
        <p:spPr>
          <a:xfrm>
            <a:off x="6446520" y="4069080"/>
            <a:ext cx="52113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DejaVu Sans"/>
              </a:rPr>
              <a:t>UUID token in every email footer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1" name="Rectangle 44"/>
          <p:cNvSpPr/>
          <p:nvPr/>
        </p:nvSpPr>
        <p:spPr>
          <a:xfrm>
            <a:off x="6263640" y="4572000"/>
            <a:ext cx="5577120" cy="749160"/>
          </a:xfrm>
          <a:prstGeom prst="rect">
            <a:avLst/>
          </a:prstGeom>
          <a:solidFill>
            <a:srgbClr val="1a2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2" name="Rectangle 45"/>
          <p:cNvSpPr/>
          <p:nvPr/>
        </p:nvSpPr>
        <p:spPr>
          <a:xfrm>
            <a:off x="6263640" y="4572000"/>
            <a:ext cx="63360" cy="74916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3" name="TextBox 46"/>
          <p:cNvSpPr/>
          <p:nvPr/>
        </p:nvSpPr>
        <p:spPr>
          <a:xfrm>
            <a:off x="6446520" y="4626720"/>
            <a:ext cx="29253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38bdf8"/>
                </a:solidFill>
                <a:latin typeface="Calibri"/>
                <a:ea typeface="DejaVu Sans"/>
              </a:rPr>
              <a:t>Automated Scheduling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04" name="TextBox 47"/>
          <p:cNvSpPr/>
          <p:nvPr/>
        </p:nvSpPr>
        <p:spPr>
          <a:xfrm>
            <a:off x="6446520" y="4937760"/>
            <a:ext cx="52113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DejaVu Sans"/>
              </a:rPr>
              <a:t>08:45 pre-market + 16:15 post-market, daily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5" name="Rectangle 48"/>
          <p:cNvSpPr/>
          <p:nvPr/>
        </p:nvSpPr>
        <p:spPr>
          <a:xfrm>
            <a:off x="6263640" y="5440680"/>
            <a:ext cx="5577120" cy="749160"/>
          </a:xfrm>
          <a:prstGeom prst="rect">
            <a:avLst/>
          </a:prstGeom>
          <a:solidFill>
            <a:srgbClr val="1a2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6" name="Rectangle 49"/>
          <p:cNvSpPr/>
          <p:nvPr/>
        </p:nvSpPr>
        <p:spPr>
          <a:xfrm>
            <a:off x="6263640" y="5440680"/>
            <a:ext cx="63360" cy="74916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7" name="TextBox 50"/>
          <p:cNvSpPr/>
          <p:nvPr/>
        </p:nvSpPr>
        <p:spPr>
          <a:xfrm>
            <a:off x="6446520" y="5495400"/>
            <a:ext cx="29253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38bdf8"/>
                </a:solidFill>
                <a:latin typeface="Calibri"/>
                <a:ea typeface="DejaVu Sans"/>
              </a:rPr>
              <a:t>Responsive Mobile UI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08" name="TextBox 51"/>
          <p:cNvSpPr/>
          <p:nvPr/>
        </p:nvSpPr>
        <p:spPr>
          <a:xfrm>
            <a:off x="6446520" y="5806440"/>
            <a:ext cx="52113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DejaVu Sans"/>
              </a:rPr>
              <a:t>Dark/light theme, scrollable panels, bottom nav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9" name="TextBox 52"/>
          <p:cNvSpPr/>
          <p:nvPr/>
        </p:nvSpPr>
        <p:spPr>
          <a:xfrm>
            <a:off x="11704320" y="6492240"/>
            <a:ext cx="3650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5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Rectangle 1"/>
          <p:cNvSpPr/>
          <p:nvPr/>
        </p:nvSpPr>
        <p:spPr>
          <a:xfrm>
            <a:off x="0" y="73080"/>
            <a:ext cx="12188160" cy="5400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1" name="TextBox 2"/>
          <p:cNvSpPr/>
          <p:nvPr/>
        </p:nvSpPr>
        <p:spPr>
          <a:xfrm>
            <a:off x="548640" y="274320"/>
            <a:ext cx="914328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DejaVu Sans"/>
              </a:rPr>
              <a:t>Live Demo  —  Walkthrough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212" name="Rectangle 3"/>
          <p:cNvSpPr/>
          <p:nvPr/>
        </p:nvSpPr>
        <p:spPr>
          <a:xfrm>
            <a:off x="548640" y="868680"/>
            <a:ext cx="2376720" cy="4500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3" name="Rectangle 4"/>
          <p:cNvSpPr/>
          <p:nvPr/>
        </p:nvSpPr>
        <p:spPr>
          <a:xfrm>
            <a:off x="365760" y="1097280"/>
            <a:ext cx="11429280" cy="685080"/>
          </a:xfrm>
          <a:prstGeom prst="rect">
            <a:avLst/>
          </a:prstGeom>
          <a:solidFill>
            <a:srgbClr val="1a2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4" name="Rectangle 5"/>
          <p:cNvSpPr/>
          <p:nvPr/>
        </p:nvSpPr>
        <p:spPr>
          <a:xfrm>
            <a:off x="365760" y="1097280"/>
            <a:ext cx="63360" cy="68508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5" name="Oval 6"/>
          <p:cNvSpPr/>
          <p:nvPr/>
        </p:nvSpPr>
        <p:spPr>
          <a:xfrm>
            <a:off x="502920" y="1207080"/>
            <a:ext cx="456480" cy="456480"/>
          </a:xfrm>
          <a:prstGeom prst="ellipse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6" name="TextBox 7"/>
          <p:cNvSpPr/>
          <p:nvPr/>
        </p:nvSpPr>
        <p:spPr>
          <a:xfrm>
            <a:off x="502920" y="1207080"/>
            <a:ext cx="456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0f172a"/>
                </a:solidFill>
                <a:latin typeface="Calibri"/>
                <a:ea typeface="DejaVu Sans"/>
              </a:rPr>
              <a:t>1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17" name="TextBox 8"/>
          <p:cNvSpPr/>
          <p:nvPr/>
        </p:nvSpPr>
        <p:spPr>
          <a:xfrm>
            <a:off x="1097280" y="1152000"/>
            <a:ext cx="34740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38bdf8"/>
                </a:solidFill>
                <a:latin typeface="Calibri"/>
                <a:ea typeface="DejaVu Sans"/>
              </a:rPr>
              <a:t>Step 1  —  Dashboard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18" name="TextBox 9"/>
          <p:cNvSpPr/>
          <p:nvPr/>
        </p:nvSpPr>
        <p:spPr>
          <a:xfrm>
            <a:off x="4754880" y="1152000"/>
            <a:ext cx="6948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DejaVu Sans"/>
              </a:rPr>
              <a:t>KPIs · scrollable signals · news tabs (India / Global) · recent alerts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9" name="Rectangle 10"/>
          <p:cNvSpPr/>
          <p:nvPr/>
        </p:nvSpPr>
        <p:spPr>
          <a:xfrm>
            <a:off x="365760" y="1892880"/>
            <a:ext cx="11429280" cy="685080"/>
          </a:xfrm>
          <a:prstGeom prst="rect">
            <a:avLst/>
          </a:prstGeom>
          <a:solidFill>
            <a:srgbClr val="1a2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0" name="Rectangle 11"/>
          <p:cNvSpPr/>
          <p:nvPr/>
        </p:nvSpPr>
        <p:spPr>
          <a:xfrm>
            <a:off x="365760" y="1892880"/>
            <a:ext cx="63360" cy="68508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1" name="Oval 12"/>
          <p:cNvSpPr/>
          <p:nvPr/>
        </p:nvSpPr>
        <p:spPr>
          <a:xfrm>
            <a:off x="502920" y="2002680"/>
            <a:ext cx="456480" cy="456480"/>
          </a:xfrm>
          <a:prstGeom prst="ellipse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2" name="TextBox 13"/>
          <p:cNvSpPr/>
          <p:nvPr/>
        </p:nvSpPr>
        <p:spPr>
          <a:xfrm>
            <a:off x="502920" y="2002680"/>
            <a:ext cx="456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0f172a"/>
                </a:solidFill>
                <a:latin typeface="Calibri"/>
                <a:ea typeface="DejaVu Sans"/>
              </a:rPr>
              <a:t>2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23" name="TextBox 14"/>
          <p:cNvSpPr/>
          <p:nvPr/>
        </p:nvSpPr>
        <p:spPr>
          <a:xfrm>
            <a:off x="1097280" y="1947600"/>
            <a:ext cx="34740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38bdf8"/>
                </a:solidFill>
                <a:latin typeface="Calibri"/>
                <a:ea typeface="DejaVu Sans"/>
              </a:rPr>
              <a:t>Step 2  —  Run Analysis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24" name="TextBox 15"/>
          <p:cNvSpPr/>
          <p:nvPr/>
        </p:nvSpPr>
        <p:spPr>
          <a:xfrm>
            <a:off x="4754880" y="1947600"/>
            <a:ext cx="6948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DejaVu Sans"/>
              </a:rPr>
              <a:t>Stock picker modal → select stocks → trigger 6-agent pipeline → live status polling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25" name="Rectangle 16"/>
          <p:cNvSpPr/>
          <p:nvPr/>
        </p:nvSpPr>
        <p:spPr>
          <a:xfrm>
            <a:off x="365760" y="2688480"/>
            <a:ext cx="11429280" cy="685080"/>
          </a:xfrm>
          <a:prstGeom prst="rect">
            <a:avLst/>
          </a:prstGeom>
          <a:solidFill>
            <a:srgbClr val="1a2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6" name="Rectangle 17"/>
          <p:cNvSpPr/>
          <p:nvPr/>
        </p:nvSpPr>
        <p:spPr>
          <a:xfrm>
            <a:off x="365760" y="2688480"/>
            <a:ext cx="63360" cy="68508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7" name="Oval 18"/>
          <p:cNvSpPr/>
          <p:nvPr/>
        </p:nvSpPr>
        <p:spPr>
          <a:xfrm>
            <a:off x="502920" y="2797920"/>
            <a:ext cx="456480" cy="456480"/>
          </a:xfrm>
          <a:prstGeom prst="ellipse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8" name="TextBox 19"/>
          <p:cNvSpPr/>
          <p:nvPr/>
        </p:nvSpPr>
        <p:spPr>
          <a:xfrm>
            <a:off x="502920" y="2797920"/>
            <a:ext cx="456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0f172a"/>
                </a:solidFill>
                <a:latin typeface="Calibri"/>
                <a:ea typeface="DejaVu Sans"/>
              </a:rPr>
              <a:t>3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29" name="TextBox 20"/>
          <p:cNvSpPr/>
          <p:nvPr/>
        </p:nvSpPr>
        <p:spPr>
          <a:xfrm>
            <a:off x="1097280" y="2743200"/>
            <a:ext cx="34740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22c55e"/>
                </a:solidFill>
                <a:latin typeface="Calibri"/>
                <a:ea typeface="DejaVu Sans"/>
              </a:rPr>
              <a:t>Step 3  —  Stock Detail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0" name="TextBox 21"/>
          <p:cNvSpPr/>
          <p:nvPr/>
        </p:nvSpPr>
        <p:spPr>
          <a:xfrm>
            <a:off x="4754880" y="2743200"/>
            <a:ext cx="6948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DejaVu Sans"/>
              </a:rPr>
              <a:t>Price chart · signal history · Gemini analysis · news feed per symbol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31" name="Rectangle 22"/>
          <p:cNvSpPr/>
          <p:nvPr/>
        </p:nvSpPr>
        <p:spPr>
          <a:xfrm>
            <a:off x="365760" y="3483720"/>
            <a:ext cx="11429280" cy="685080"/>
          </a:xfrm>
          <a:prstGeom prst="rect">
            <a:avLst/>
          </a:prstGeom>
          <a:solidFill>
            <a:srgbClr val="1a2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2" name="Rectangle 23"/>
          <p:cNvSpPr/>
          <p:nvPr/>
        </p:nvSpPr>
        <p:spPr>
          <a:xfrm>
            <a:off x="365760" y="3483720"/>
            <a:ext cx="63360" cy="68508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3" name="Oval 24"/>
          <p:cNvSpPr/>
          <p:nvPr/>
        </p:nvSpPr>
        <p:spPr>
          <a:xfrm>
            <a:off x="502920" y="3593520"/>
            <a:ext cx="456480" cy="456480"/>
          </a:xfrm>
          <a:prstGeom prst="ellipse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4" name="TextBox 25"/>
          <p:cNvSpPr/>
          <p:nvPr/>
        </p:nvSpPr>
        <p:spPr>
          <a:xfrm>
            <a:off x="502920" y="3593520"/>
            <a:ext cx="456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0f172a"/>
                </a:solidFill>
                <a:latin typeface="Calibri"/>
                <a:ea typeface="DejaVu Sans"/>
              </a:rPr>
              <a:t>4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5" name="TextBox 26"/>
          <p:cNvSpPr/>
          <p:nvPr/>
        </p:nvSpPr>
        <p:spPr>
          <a:xfrm>
            <a:off x="1097280" y="3538800"/>
            <a:ext cx="34740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22c55e"/>
                </a:solidFill>
                <a:latin typeface="Calibri"/>
                <a:ea typeface="DejaVu Sans"/>
              </a:rPr>
              <a:t>Step 4  —  Subscribe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6" name="TextBox 27"/>
          <p:cNvSpPr/>
          <p:nvPr/>
        </p:nvSpPr>
        <p:spPr>
          <a:xfrm>
            <a:off x="4754880" y="3538800"/>
            <a:ext cx="6948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DejaVu Sans"/>
              </a:rPr>
              <a:t>Enter email · pick stocks by sector · subscribe → welcome email in inbox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37" name="Rectangle 28"/>
          <p:cNvSpPr/>
          <p:nvPr/>
        </p:nvSpPr>
        <p:spPr>
          <a:xfrm>
            <a:off x="365760" y="4279320"/>
            <a:ext cx="11429280" cy="685080"/>
          </a:xfrm>
          <a:prstGeom prst="rect">
            <a:avLst/>
          </a:prstGeom>
          <a:solidFill>
            <a:srgbClr val="1a2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8" name="Rectangle 29"/>
          <p:cNvSpPr/>
          <p:nvPr/>
        </p:nvSpPr>
        <p:spPr>
          <a:xfrm>
            <a:off x="365760" y="4279320"/>
            <a:ext cx="63360" cy="68508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9" name="Oval 30"/>
          <p:cNvSpPr/>
          <p:nvPr/>
        </p:nvSpPr>
        <p:spPr>
          <a:xfrm>
            <a:off x="502920" y="4389120"/>
            <a:ext cx="456480" cy="456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0" name="TextBox 31"/>
          <p:cNvSpPr/>
          <p:nvPr/>
        </p:nvSpPr>
        <p:spPr>
          <a:xfrm>
            <a:off x="502920" y="4389120"/>
            <a:ext cx="456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0f172a"/>
                </a:solidFill>
                <a:latin typeface="Calibri"/>
                <a:ea typeface="DejaVu Sans"/>
              </a:rPr>
              <a:t>5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1" name="TextBox 32"/>
          <p:cNvSpPr/>
          <p:nvPr/>
        </p:nvSpPr>
        <p:spPr>
          <a:xfrm>
            <a:off x="1097280" y="4334400"/>
            <a:ext cx="34740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59e0b"/>
                </a:solidFill>
                <a:latin typeface="Calibri"/>
                <a:ea typeface="DejaVu Sans"/>
              </a:rPr>
              <a:t>Step 5  —  Update Watchlist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2" name="TextBox 33"/>
          <p:cNvSpPr/>
          <p:nvPr/>
        </p:nvSpPr>
        <p:spPr>
          <a:xfrm>
            <a:off x="4754880" y="4334400"/>
            <a:ext cx="6948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DejaVu Sans"/>
              </a:rPr>
              <a:t>Re-submit same email with different stocks → update email confirming change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3" name="Rectangle 34"/>
          <p:cNvSpPr/>
          <p:nvPr/>
        </p:nvSpPr>
        <p:spPr>
          <a:xfrm>
            <a:off x="365760" y="5074920"/>
            <a:ext cx="11429280" cy="685080"/>
          </a:xfrm>
          <a:prstGeom prst="rect">
            <a:avLst/>
          </a:prstGeom>
          <a:solidFill>
            <a:srgbClr val="1a2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4" name="Rectangle 35"/>
          <p:cNvSpPr/>
          <p:nvPr/>
        </p:nvSpPr>
        <p:spPr>
          <a:xfrm>
            <a:off x="365760" y="5074920"/>
            <a:ext cx="63360" cy="68508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5" name="Oval 36"/>
          <p:cNvSpPr/>
          <p:nvPr/>
        </p:nvSpPr>
        <p:spPr>
          <a:xfrm>
            <a:off x="502920" y="5184720"/>
            <a:ext cx="456480" cy="456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6" name="TextBox 37"/>
          <p:cNvSpPr/>
          <p:nvPr/>
        </p:nvSpPr>
        <p:spPr>
          <a:xfrm>
            <a:off x="502920" y="5184720"/>
            <a:ext cx="456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0f172a"/>
                </a:solidFill>
                <a:latin typeface="Calibri"/>
                <a:ea typeface="DejaVu Sans"/>
              </a:rPr>
              <a:t>6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7" name="TextBox 38"/>
          <p:cNvSpPr/>
          <p:nvPr/>
        </p:nvSpPr>
        <p:spPr>
          <a:xfrm>
            <a:off x="1097280" y="5129640"/>
            <a:ext cx="34740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59e0b"/>
                </a:solidFill>
                <a:latin typeface="Calibri"/>
                <a:ea typeface="DejaVu Sans"/>
              </a:rPr>
              <a:t>Step 6  —  Unsubscribe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8" name="TextBox 39"/>
          <p:cNvSpPr/>
          <p:nvPr/>
        </p:nvSpPr>
        <p:spPr>
          <a:xfrm>
            <a:off x="4754880" y="5129640"/>
            <a:ext cx="6948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DejaVu Sans"/>
              </a:rPr>
              <a:t>Manage subscription card → lookup email → click link in email → confirmation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9" name="Rectangle 40"/>
          <p:cNvSpPr/>
          <p:nvPr/>
        </p:nvSpPr>
        <p:spPr>
          <a:xfrm>
            <a:off x="365760" y="5870520"/>
            <a:ext cx="11429280" cy="685080"/>
          </a:xfrm>
          <a:prstGeom prst="rect">
            <a:avLst/>
          </a:prstGeom>
          <a:solidFill>
            <a:srgbClr val="1a2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0" name="Rectangle 41"/>
          <p:cNvSpPr/>
          <p:nvPr/>
        </p:nvSpPr>
        <p:spPr>
          <a:xfrm>
            <a:off x="365760" y="5870520"/>
            <a:ext cx="63360" cy="685080"/>
          </a:xfrm>
          <a:prstGeom prst="rect">
            <a:avLst/>
          </a:prstGeom>
          <a:solidFill>
            <a:srgbClr val="ef44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1" name="Oval 42"/>
          <p:cNvSpPr/>
          <p:nvPr/>
        </p:nvSpPr>
        <p:spPr>
          <a:xfrm>
            <a:off x="502920" y="5980320"/>
            <a:ext cx="456480" cy="456480"/>
          </a:xfrm>
          <a:prstGeom prst="ellipse">
            <a:avLst/>
          </a:prstGeom>
          <a:solidFill>
            <a:srgbClr val="ef44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2" name="TextBox 43"/>
          <p:cNvSpPr/>
          <p:nvPr/>
        </p:nvSpPr>
        <p:spPr>
          <a:xfrm>
            <a:off x="502920" y="5980320"/>
            <a:ext cx="456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0f172a"/>
                </a:solidFill>
                <a:latin typeface="Calibri"/>
                <a:ea typeface="DejaVu Sans"/>
              </a:rPr>
              <a:t>7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53" name="TextBox 44"/>
          <p:cNvSpPr/>
          <p:nvPr/>
        </p:nvSpPr>
        <p:spPr>
          <a:xfrm>
            <a:off x="1097280" y="5925240"/>
            <a:ext cx="34740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ef4444"/>
                </a:solidFill>
                <a:latin typeface="Calibri"/>
                <a:ea typeface="DejaVu Sans"/>
              </a:rPr>
              <a:t>Step 7  —  Alert History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54" name="TextBox 45"/>
          <p:cNvSpPr/>
          <p:nvPr/>
        </p:nvSpPr>
        <p:spPr>
          <a:xfrm>
            <a:off x="4754880" y="5925240"/>
            <a:ext cx="6948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DejaVu Sans"/>
              </a:rPr>
              <a:t>Full digest history · sent/failed status · recipient list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5" name="TextBox 46"/>
          <p:cNvSpPr/>
          <p:nvPr/>
        </p:nvSpPr>
        <p:spPr>
          <a:xfrm>
            <a:off x="11704320" y="6492240"/>
            <a:ext cx="3650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6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Rectangle 1"/>
          <p:cNvSpPr/>
          <p:nvPr/>
        </p:nvSpPr>
        <p:spPr>
          <a:xfrm>
            <a:off x="0" y="73080"/>
            <a:ext cx="12188160" cy="5400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7" name="TextBox 2"/>
          <p:cNvSpPr/>
          <p:nvPr/>
        </p:nvSpPr>
        <p:spPr>
          <a:xfrm>
            <a:off x="548640" y="274320"/>
            <a:ext cx="914328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DejaVu Sans"/>
              </a:rPr>
              <a:t>Platform at a Glance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258" name="Rectangle 3"/>
          <p:cNvSpPr/>
          <p:nvPr/>
        </p:nvSpPr>
        <p:spPr>
          <a:xfrm>
            <a:off x="548640" y="868680"/>
            <a:ext cx="2285280" cy="4500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9" name="Rectangle 4"/>
          <p:cNvSpPr/>
          <p:nvPr/>
        </p:nvSpPr>
        <p:spPr>
          <a:xfrm>
            <a:off x="457200" y="1188720"/>
            <a:ext cx="2376720" cy="1370880"/>
          </a:xfrm>
          <a:prstGeom prst="rect">
            <a:avLst/>
          </a:prstGeom>
          <a:solidFill>
            <a:srgbClr val="1a2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0" name="Rectangle 5"/>
          <p:cNvSpPr/>
          <p:nvPr/>
        </p:nvSpPr>
        <p:spPr>
          <a:xfrm>
            <a:off x="457200" y="1188720"/>
            <a:ext cx="54000" cy="137088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1" name="TextBox 6"/>
          <p:cNvSpPr/>
          <p:nvPr/>
        </p:nvSpPr>
        <p:spPr>
          <a:xfrm>
            <a:off x="567000" y="1280160"/>
            <a:ext cx="21938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DejaVu Sans"/>
              </a:rPr>
              <a:t>Stocks Supported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2" name="TextBox 7"/>
          <p:cNvSpPr/>
          <p:nvPr/>
        </p:nvSpPr>
        <p:spPr>
          <a:xfrm>
            <a:off x="567000" y="1572840"/>
            <a:ext cx="21938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600" spc="-1" strike="noStrike">
                <a:solidFill>
                  <a:srgbClr val="38bdf8"/>
                </a:solidFill>
                <a:latin typeface="Calibri"/>
                <a:ea typeface="DejaVu Sans"/>
              </a:rPr>
              <a:t>1,700+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263" name="TextBox 8"/>
          <p:cNvSpPr/>
          <p:nvPr/>
        </p:nvSpPr>
        <p:spPr>
          <a:xfrm>
            <a:off x="567000" y="2084760"/>
            <a:ext cx="21938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Live NSE catalog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64" name="Rectangle 9"/>
          <p:cNvSpPr/>
          <p:nvPr/>
        </p:nvSpPr>
        <p:spPr>
          <a:xfrm>
            <a:off x="3383280" y="1188720"/>
            <a:ext cx="2376720" cy="1370880"/>
          </a:xfrm>
          <a:prstGeom prst="rect">
            <a:avLst/>
          </a:prstGeom>
          <a:solidFill>
            <a:srgbClr val="1a2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5" name="Rectangle 10"/>
          <p:cNvSpPr/>
          <p:nvPr/>
        </p:nvSpPr>
        <p:spPr>
          <a:xfrm>
            <a:off x="3383280" y="1188720"/>
            <a:ext cx="54000" cy="137088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6" name="TextBox 11"/>
          <p:cNvSpPr/>
          <p:nvPr/>
        </p:nvSpPr>
        <p:spPr>
          <a:xfrm>
            <a:off x="3493080" y="1280160"/>
            <a:ext cx="21938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DejaVu Sans"/>
              </a:rPr>
              <a:t>AI Agents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7" name="TextBox 12"/>
          <p:cNvSpPr/>
          <p:nvPr/>
        </p:nvSpPr>
        <p:spPr>
          <a:xfrm>
            <a:off x="3493080" y="1572840"/>
            <a:ext cx="21938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600" spc="-1" strike="noStrike">
                <a:solidFill>
                  <a:srgbClr val="22c55e"/>
                </a:solidFill>
                <a:latin typeface="Calibri"/>
                <a:ea typeface="DejaVu Sans"/>
              </a:rPr>
              <a:t>6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268" name="TextBox 13"/>
          <p:cNvSpPr/>
          <p:nvPr/>
        </p:nvSpPr>
        <p:spPr>
          <a:xfrm>
            <a:off x="3493080" y="2084760"/>
            <a:ext cx="21938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End-to-end pipeline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69" name="Rectangle 14"/>
          <p:cNvSpPr/>
          <p:nvPr/>
        </p:nvSpPr>
        <p:spPr>
          <a:xfrm>
            <a:off x="6309360" y="1188720"/>
            <a:ext cx="2376720" cy="1370880"/>
          </a:xfrm>
          <a:prstGeom prst="rect">
            <a:avLst/>
          </a:prstGeom>
          <a:solidFill>
            <a:srgbClr val="1a2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0" name="Rectangle 15"/>
          <p:cNvSpPr/>
          <p:nvPr/>
        </p:nvSpPr>
        <p:spPr>
          <a:xfrm>
            <a:off x="6309360" y="1188720"/>
            <a:ext cx="54000" cy="137088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1" name="TextBox 16"/>
          <p:cNvSpPr/>
          <p:nvPr/>
        </p:nvSpPr>
        <p:spPr>
          <a:xfrm>
            <a:off x="6419160" y="1280160"/>
            <a:ext cx="21938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DejaVu Sans"/>
              </a:rPr>
              <a:t>REST Endpoints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2" name="TextBox 17"/>
          <p:cNvSpPr/>
          <p:nvPr/>
        </p:nvSpPr>
        <p:spPr>
          <a:xfrm>
            <a:off x="6419160" y="1572840"/>
            <a:ext cx="21938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600" spc="-1" strike="noStrike">
                <a:solidFill>
                  <a:srgbClr val="f59e0b"/>
                </a:solidFill>
                <a:latin typeface="Calibri"/>
                <a:ea typeface="DejaVu Sans"/>
              </a:rPr>
              <a:t>19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273" name="TextBox 18"/>
          <p:cNvSpPr/>
          <p:nvPr/>
        </p:nvSpPr>
        <p:spPr>
          <a:xfrm>
            <a:off x="6419160" y="2084760"/>
            <a:ext cx="21938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Full API coverage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74" name="Rectangle 19"/>
          <p:cNvSpPr/>
          <p:nvPr/>
        </p:nvSpPr>
        <p:spPr>
          <a:xfrm>
            <a:off x="9235440" y="1188720"/>
            <a:ext cx="2376720" cy="1370880"/>
          </a:xfrm>
          <a:prstGeom prst="rect">
            <a:avLst/>
          </a:prstGeom>
          <a:solidFill>
            <a:srgbClr val="1a2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5" name="Rectangle 20"/>
          <p:cNvSpPr/>
          <p:nvPr/>
        </p:nvSpPr>
        <p:spPr>
          <a:xfrm>
            <a:off x="9235440" y="1188720"/>
            <a:ext cx="54000" cy="137088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6" name="TextBox 21"/>
          <p:cNvSpPr/>
          <p:nvPr/>
        </p:nvSpPr>
        <p:spPr>
          <a:xfrm>
            <a:off x="9345240" y="1280160"/>
            <a:ext cx="21938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DejaVu Sans"/>
              </a:rPr>
              <a:t>News Sources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7" name="TextBox 22"/>
          <p:cNvSpPr/>
          <p:nvPr/>
        </p:nvSpPr>
        <p:spPr>
          <a:xfrm>
            <a:off x="9345240" y="1572840"/>
            <a:ext cx="21938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600" spc="-1" strike="noStrike">
                <a:solidFill>
                  <a:srgbClr val="38bdf8"/>
                </a:solidFill>
                <a:latin typeface="Calibri"/>
                <a:ea typeface="DejaVu Sans"/>
              </a:rPr>
              <a:t>10+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278" name="TextBox 23"/>
          <p:cNvSpPr/>
          <p:nvPr/>
        </p:nvSpPr>
        <p:spPr>
          <a:xfrm>
            <a:off x="9345240" y="2084760"/>
            <a:ext cx="21938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India + 6 global RSS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79" name="Rectangle 24"/>
          <p:cNvSpPr/>
          <p:nvPr/>
        </p:nvSpPr>
        <p:spPr>
          <a:xfrm>
            <a:off x="457200" y="3017520"/>
            <a:ext cx="2376720" cy="1370880"/>
          </a:xfrm>
          <a:prstGeom prst="rect">
            <a:avLst/>
          </a:prstGeom>
          <a:solidFill>
            <a:srgbClr val="1a2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0" name="Rectangle 25"/>
          <p:cNvSpPr/>
          <p:nvPr/>
        </p:nvSpPr>
        <p:spPr>
          <a:xfrm>
            <a:off x="457200" y="3017520"/>
            <a:ext cx="54000" cy="137088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1" name="TextBox 26"/>
          <p:cNvSpPr/>
          <p:nvPr/>
        </p:nvSpPr>
        <p:spPr>
          <a:xfrm>
            <a:off x="567000" y="3108960"/>
            <a:ext cx="21938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DejaVu Sans"/>
              </a:rPr>
              <a:t>Email Events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82" name="TextBox 27"/>
          <p:cNvSpPr/>
          <p:nvPr/>
        </p:nvSpPr>
        <p:spPr>
          <a:xfrm>
            <a:off x="567000" y="3401640"/>
            <a:ext cx="21938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600" spc="-1" strike="noStrike">
                <a:solidFill>
                  <a:srgbClr val="22c55e"/>
                </a:solidFill>
                <a:latin typeface="Calibri"/>
                <a:ea typeface="DejaVu Sans"/>
              </a:rPr>
              <a:t>3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283" name="TextBox 28"/>
          <p:cNvSpPr/>
          <p:nvPr/>
        </p:nvSpPr>
        <p:spPr>
          <a:xfrm>
            <a:off x="567000" y="3913560"/>
            <a:ext cx="21938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Welcome · Update · Digest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84" name="Rectangle 29"/>
          <p:cNvSpPr/>
          <p:nvPr/>
        </p:nvSpPr>
        <p:spPr>
          <a:xfrm>
            <a:off x="3383280" y="3017520"/>
            <a:ext cx="2376720" cy="1370880"/>
          </a:xfrm>
          <a:prstGeom prst="rect">
            <a:avLst/>
          </a:prstGeom>
          <a:solidFill>
            <a:srgbClr val="1a2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5" name="Rectangle 30"/>
          <p:cNvSpPr/>
          <p:nvPr/>
        </p:nvSpPr>
        <p:spPr>
          <a:xfrm>
            <a:off x="3383280" y="3017520"/>
            <a:ext cx="54000" cy="137088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6" name="TextBox 31"/>
          <p:cNvSpPr/>
          <p:nvPr/>
        </p:nvSpPr>
        <p:spPr>
          <a:xfrm>
            <a:off x="3493080" y="3108960"/>
            <a:ext cx="21938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DejaVu Sans"/>
              </a:rPr>
              <a:t>DB Tables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87" name="TextBox 32"/>
          <p:cNvSpPr/>
          <p:nvPr/>
        </p:nvSpPr>
        <p:spPr>
          <a:xfrm>
            <a:off x="3493080" y="3401640"/>
            <a:ext cx="21938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600" spc="-1" strike="noStrike">
                <a:solidFill>
                  <a:srgbClr val="f59e0b"/>
                </a:solidFill>
                <a:latin typeface="Calibri"/>
                <a:ea typeface="DejaVu Sans"/>
              </a:rPr>
              <a:t>6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288" name="TextBox 33"/>
          <p:cNvSpPr/>
          <p:nvPr/>
        </p:nvSpPr>
        <p:spPr>
          <a:xfrm>
            <a:off x="3493080" y="3913560"/>
            <a:ext cx="21938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SQLite / SQLAlchemy ORM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89" name="Rectangle 34"/>
          <p:cNvSpPr/>
          <p:nvPr/>
        </p:nvSpPr>
        <p:spPr>
          <a:xfrm>
            <a:off x="6309360" y="3017520"/>
            <a:ext cx="2376720" cy="1370880"/>
          </a:xfrm>
          <a:prstGeom prst="rect">
            <a:avLst/>
          </a:prstGeom>
          <a:solidFill>
            <a:srgbClr val="1a2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0" name="Rectangle 35"/>
          <p:cNvSpPr/>
          <p:nvPr/>
        </p:nvSpPr>
        <p:spPr>
          <a:xfrm>
            <a:off x="6309360" y="3017520"/>
            <a:ext cx="54000" cy="1370880"/>
          </a:xfrm>
          <a:prstGeom prst="rect">
            <a:avLst/>
          </a:prstGeom>
          <a:solidFill>
            <a:srgbClr val="ef44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1" name="TextBox 36"/>
          <p:cNvSpPr/>
          <p:nvPr/>
        </p:nvSpPr>
        <p:spPr>
          <a:xfrm>
            <a:off x="6419160" y="3108960"/>
            <a:ext cx="21938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DejaVu Sans"/>
              </a:rPr>
              <a:t>Digests Per Day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92" name="TextBox 37"/>
          <p:cNvSpPr/>
          <p:nvPr/>
        </p:nvSpPr>
        <p:spPr>
          <a:xfrm>
            <a:off x="6419160" y="3401640"/>
            <a:ext cx="21938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600" spc="-1" strike="noStrike">
                <a:solidFill>
                  <a:srgbClr val="ef4444"/>
                </a:solidFill>
                <a:latin typeface="Calibri"/>
                <a:ea typeface="DejaVu Sans"/>
              </a:rPr>
              <a:t>2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293" name="TextBox 38"/>
          <p:cNvSpPr/>
          <p:nvPr/>
        </p:nvSpPr>
        <p:spPr>
          <a:xfrm>
            <a:off x="6419160" y="3913560"/>
            <a:ext cx="21938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08:45 &amp; 16:15 IST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94" name="Rectangle 39"/>
          <p:cNvSpPr/>
          <p:nvPr/>
        </p:nvSpPr>
        <p:spPr>
          <a:xfrm>
            <a:off x="9235440" y="3017520"/>
            <a:ext cx="2376720" cy="1370880"/>
          </a:xfrm>
          <a:prstGeom prst="rect">
            <a:avLst/>
          </a:prstGeom>
          <a:solidFill>
            <a:srgbClr val="1a2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5" name="Rectangle 40"/>
          <p:cNvSpPr/>
          <p:nvPr/>
        </p:nvSpPr>
        <p:spPr>
          <a:xfrm>
            <a:off x="9235440" y="3017520"/>
            <a:ext cx="54000" cy="137088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6" name="TextBox 41"/>
          <p:cNvSpPr/>
          <p:nvPr/>
        </p:nvSpPr>
        <p:spPr>
          <a:xfrm>
            <a:off x="9345240" y="3108960"/>
            <a:ext cx="21938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DejaVu Sans"/>
              </a:rPr>
              <a:t>Setup Time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97" name="TextBox 42"/>
          <p:cNvSpPr/>
          <p:nvPr/>
        </p:nvSpPr>
        <p:spPr>
          <a:xfrm>
            <a:off x="9345240" y="3401640"/>
            <a:ext cx="21938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600" spc="-1" strike="noStrike">
                <a:solidFill>
                  <a:srgbClr val="38bdf8"/>
                </a:solidFill>
                <a:latin typeface="Calibri"/>
                <a:ea typeface="DejaVu Sans"/>
              </a:rPr>
              <a:t>&lt; 5 min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298" name="TextBox 43"/>
          <p:cNvSpPr/>
          <p:nvPr/>
        </p:nvSpPr>
        <p:spPr>
          <a:xfrm>
            <a:off x="9345240" y="3913560"/>
            <a:ext cx="21938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Install → running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99" name="TextBox 44"/>
          <p:cNvSpPr/>
          <p:nvPr/>
        </p:nvSpPr>
        <p:spPr>
          <a:xfrm>
            <a:off x="11704320" y="6492240"/>
            <a:ext cx="3650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7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Rectangle 1"/>
          <p:cNvSpPr/>
          <p:nvPr/>
        </p:nvSpPr>
        <p:spPr>
          <a:xfrm>
            <a:off x="0" y="73080"/>
            <a:ext cx="12188160" cy="5400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01" name="TextBox 2"/>
          <p:cNvSpPr/>
          <p:nvPr/>
        </p:nvSpPr>
        <p:spPr>
          <a:xfrm>
            <a:off x="548640" y="274320"/>
            <a:ext cx="914328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DejaVu Sans"/>
              </a:rPr>
              <a:t>Roadmap  —  What's Next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302" name="Rectangle 3"/>
          <p:cNvSpPr/>
          <p:nvPr/>
        </p:nvSpPr>
        <p:spPr>
          <a:xfrm>
            <a:off x="548640" y="868680"/>
            <a:ext cx="2193840" cy="4500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03" name="Rectangle 4"/>
          <p:cNvSpPr/>
          <p:nvPr/>
        </p:nvSpPr>
        <p:spPr>
          <a:xfrm>
            <a:off x="365760" y="1097280"/>
            <a:ext cx="3702600" cy="5302800"/>
          </a:xfrm>
          <a:prstGeom prst="rect">
            <a:avLst/>
          </a:prstGeom>
          <a:solidFill>
            <a:srgbClr val="1a2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04" name="Rectangle 5"/>
          <p:cNvSpPr/>
          <p:nvPr/>
        </p:nvSpPr>
        <p:spPr>
          <a:xfrm>
            <a:off x="365760" y="1097280"/>
            <a:ext cx="3702600" cy="7236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05" name="TextBox 6"/>
          <p:cNvSpPr/>
          <p:nvPr/>
        </p:nvSpPr>
        <p:spPr>
          <a:xfrm>
            <a:off x="530280" y="1170360"/>
            <a:ext cx="338256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38bdf8"/>
                </a:solidFill>
                <a:latin typeface="Calibri"/>
                <a:ea typeface="DejaVu Sans"/>
              </a:rPr>
              <a:t>Phase 2  —  Near Term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38bdf8"/>
                </a:solidFill>
                <a:latin typeface="Calibri"/>
                <a:ea typeface="DejaVu Sans"/>
              </a:rPr>
              <a:t>(1–2 months)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06" name="TextBox 7"/>
          <p:cNvSpPr/>
          <p:nvPr/>
        </p:nvSpPr>
        <p:spPr>
          <a:xfrm>
            <a:off x="530280" y="1874520"/>
            <a:ext cx="338256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DejaVu Sans"/>
              </a:rPr>
              <a:t>→  </a:t>
            </a: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DejaVu Sans"/>
              </a:rPr>
              <a:t>Technical indicators: RSI, MACD, Bollinger Bands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07" name="TextBox 8"/>
          <p:cNvSpPr/>
          <p:nvPr/>
        </p:nvSpPr>
        <p:spPr>
          <a:xfrm>
            <a:off x="530280" y="2679120"/>
            <a:ext cx="338256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DejaVu Sans"/>
              </a:rPr>
              <a:t>→  </a:t>
            </a: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DejaVu Sans"/>
              </a:rPr>
              <a:t>Signal backtesting &amp; P&amp;L performance tracking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08" name="TextBox 9"/>
          <p:cNvSpPr/>
          <p:nvPr/>
        </p:nvSpPr>
        <p:spPr>
          <a:xfrm>
            <a:off x="530280" y="3483720"/>
            <a:ext cx="33825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DejaVu Sans"/>
              </a:rPr>
              <a:t>→  </a:t>
            </a: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DejaVu Sans"/>
              </a:rPr>
              <a:t>Telegram / WhatsApp alert notifications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09" name="TextBox 10"/>
          <p:cNvSpPr/>
          <p:nvPr/>
        </p:nvSpPr>
        <p:spPr>
          <a:xfrm>
            <a:off x="530280" y="4288680"/>
            <a:ext cx="33825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DejaVu Sans"/>
              </a:rPr>
              <a:t>→  </a:t>
            </a: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DejaVu Sans"/>
              </a:rPr>
              <a:t>Stock screener with custom filter criteria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10" name="TextBox 11"/>
          <p:cNvSpPr/>
          <p:nvPr/>
        </p:nvSpPr>
        <p:spPr>
          <a:xfrm>
            <a:off x="530280" y="5093280"/>
            <a:ext cx="338256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DejaVu Sans"/>
              </a:rPr>
              <a:t>→  </a:t>
            </a: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DejaVu Sans"/>
              </a:rPr>
              <a:t>User login &amp; per-user portfolio management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11" name="Rectangle 12"/>
          <p:cNvSpPr/>
          <p:nvPr/>
        </p:nvSpPr>
        <p:spPr>
          <a:xfrm>
            <a:off x="4297680" y="1097280"/>
            <a:ext cx="3702600" cy="5302800"/>
          </a:xfrm>
          <a:prstGeom prst="rect">
            <a:avLst/>
          </a:prstGeom>
          <a:solidFill>
            <a:srgbClr val="1a2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2" name="Rectangle 13"/>
          <p:cNvSpPr/>
          <p:nvPr/>
        </p:nvSpPr>
        <p:spPr>
          <a:xfrm>
            <a:off x="4297680" y="1097280"/>
            <a:ext cx="3702600" cy="7236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3" name="TextBox 14"/>
          <p:cNvSpPr/>
          <p:nvPr/>
        </p:nvSpPr>
        <p:spPr>
          <a:xfrm>
            <a:off x="4462200" y="1170360"/>
            <a:ext cx="338256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59e0b"/>
                </a:solidFill>
                <a:latin typeface="Calibri"/>
                <a:ea typeface="DejaVu Sans"/>
              </a:rPr>
              <a:t>Phase 3  —  Growth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59e0b"/>
                </a:solidFill>
                <a:latin typeface="Calibri"/>
                <a:ea typeface="DejaVu Sans"/>
              </a:rPr>
              <a:t>(3–6 months)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14" name="TextBox 15"/>
          <p:cNvSpPr/>
          <p:nvPr/>
        </p:nvSpPr>
        <p:spPr>
          <a:xfrm>
            <a:off x="4462200" y="1874520"/>
            <a:ext cx="33825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DejaVu Sans"/>
              </a:rPr>
              <a:t>→  </a:t>
            </a: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DejaVu Sans"/>
              </a:rPr>
              <a:t>PostgreSQL migration for production scale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15" name="TextBox 16"/>
          <p:cNvSpPr/>
          <p:nvPr/>
        </p:nvSpPr>
        <p:spPr>
          <a:xfrm>
            <a:off x="4462200" y="2679120"/>
            <a:ext cx="338256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DejaVu Sans"/>
              </a:rPr>
              <a:t>→  </a:t>
            </a: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DejaVu Sans"/>
              </a:rPr>
              <a:t>Paid data API (Zerodha Kite / Upstox) for reliability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16" name="TextBox 17"/>
          <p:cNvSpPr/>
          <p:nvPr/>
        </p:nvSpPr>
        <p:spPr>
          <a:xfrm>
            <a:off x="4462200" y="3483720"/>
            <a:ext cx="33825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DejaVu Sans"/>
              </a:rPr>
              <a:t>→  </a:t>
            </a: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DejaVu Sans"/>
              </a:rPr>
              <a:t>SendGrid / AWS SES for email scale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17" name="TextBox 18"/>
          <p:cNvSpPr/>
          <p:nvPr/>
        </p:nvSpPr>
        <p:spPr>
          <a:xfrm>
            <a:off x="4462200" y="4288680"/>
            <a:ext cx="338256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DejaVu Sans"/>
              </a:rPr>
              <a:t>→  </a:t>
            </a: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DejaVu Sans"/>
              </a:rPr>
              <a:t>Mobile app (React Native) — push notifications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18" name="TextBox 19"/>
          <p:cNvSpPr/>
          <p:nvPr/>
        </p:nvSpPr>
        <p:spPr>
          <a:xfrm>
            <a:off x="4462200" y="5093280"/>
            <a:ext cx="33825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DejaVu Sans"/>
              </a:rPr>
              <a:t>→  </a:t>
            </a: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DejaVu Sans"/>
              </a:rPr>
              <a:t>Multi-market support: BSE, global indices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19" name="Rectangle 20"/>
          <p:cNvSpPr/>
          <p:nvPr/>
        </p:nvSpPr>
        <p:spPr>
          <a:xfrm>
            <a:off x="8229600" y="1097280"/>
            <a:ext cx="3702600" cy="5302800"/>
          </a:xfrm>
          <a:prstGeom prst="rect">
            <a:avLst/>
          </a:prstGeom>
          <a:solidFill>
            <a:srgbClr val="1a2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0" name="Rectangle 21"/>
          <p:cNvSpPr/>
          <p:nvPr/>
        </p:nvSpPr>
        <p:spPr>
          <a:xfrm>
            <a:off x="8229600" y="1097280"/>
            <a:ext cx="3702600" cy="7236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1" name="TextBox 22"/>
          <p:cNvSpPr/>
          <p:nvPr/>
        </p:nvSpPr>
        <p:spPr>
          <a:xfrm>
            <a:off x="8394120" y="1170360"/>
            <a:ext cx="338256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22c55e"/>
                </a:solidFill>
                <a:latin typeface="Calibri"/>
                <a:ea typeface="DejaVu Sans"/>
              </a:rPr>
              <a:t>Phase 4  —  Scale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22c55e"/>
                </a:solidFill>
                <a:latin typeface="Calibri"/>
                <a:ea typeface="DejaVu Sans"/>
              </a:rPr>
              <a:t>(6–12 months)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22" name="TextBox 23"/>
          <p:cNvSpPr/>
          <p:nvPr/>
        </p:nvSpPr>
        <p:spPr>
          <a:xfrm>
            <a:off x="8394120" y="1874520"/>
            <a:ext cx="33825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DejaVu Sans"/>
              </a:rPr>
              <a:t>→  </a:t>
            </a: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DejaVu Sans"/>
              </a:rPr>
              <a:t>Options &amp; derivatives signal support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23" name="TextBox 24"/>
          <p:cNvSpPr/>
          <p:nvPr/>
        </p:nvSpPr>
        <p:spPr>
          <a:xfrm>
            <a:off x="8394120" y="2679120"/>
            <a:ext cx="338256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DejaVu Sans"/>
              </a:rPr>
              <a:t>→  </a:t>
            </a: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DejaVu Sans"/>
              </a:rPr>
              <a:t>Social sentiment: Twitter/X + Reddit scraping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24" name="TextBox 25"/>
          <p:cNvSpPr/>
          <p:nvPr/>
        </p:nvSpPr>
        <p:spPr>
          <a:xfrm>
            <a:off x="8394120" y="3483720"/>
            <a:ext cx="33825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DejaVu Sans"/>
              </a:rPr>
              <a:t>→  </a:t>
            </a: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DejaVu Sans"/>
              </a:rPr>
              <a:t>Tiered SaaS subscription model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25" name="TextBox 26"/>
          <p:cNvSpPr/>
          <p:nvPr/>
        </p:nvSpPr>
        <p:spPr>
          <a:xfrm>
            <a:off x="8394120" y="4288680"/>
            <a:ext cx="338256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DejaVu Sans"/>
              </a:rPr>
              <a:t>→  </a:t>
            </a: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DejaVu Sans"/>
              </a:rPr>
              <a:t>Broker API integration — one-click trade execution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26" name="TextBox 27"/>
          <p:cNvSpPr/>
          <p:nvPr/>
        </p:nvSpPr>
        <p:spPr>
          <a:xfrm>
            <a:off x="8394120" y="5093280"/>
            <a:ext cx="338256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DejaVu Sans"/>
              </a:rPr>
              <a:t>→  </a:t>
            </a: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DejaVu Sans"/>
              </a:rPr>
              <a:t>Regulatory compliance &amp; SEBI advisory framework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27" name="TextBox 28"/>
          <p:cNvSpPr/>
          <p:nvPr/>
        </p:nvSpPr>
        <p:spPr>
          <a:xfrm>
            <a:off x="11704320" y="6492240"/>
            <a:ext cx="3650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8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Rectangle 1"/>
          <p:cNvSpPr/>
          <p:nvPr/>
        </p:nvSpPr>
        <p:spPr>
          <a:xfrm>
            <a:off x="0" y="73080"/>
            <a:ext cx="12188160" cy="5400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9" name="Rectangle 2"/>
          <p:cNvSpPr/>
          <p:nvPr/>
        </p:nvSpPr>
        <p:spPr>
          <a:xfrm>
            <a:off x="1371600" y="1097280"/>
            <a:ext cx="9417600" cy="4114080"/>
          </a:xfrm>
          <a:prstGeom prst="rect">
            <a:avLst/>
          </a:prstGeom>
          <a:solidFill>
            <a:srgbClr val="1a2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30" name="Rectangle 3"/>
          <p:cNvSpPr/>
          <p:nvPr/>
        </p:nvSpPr>
        <p:spPr>
          <a:xfrm>
            <a:off x="1371600" y="1097280"/>
            <a:ext cx="9417600" cy="9072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31" name="TextBox 4"/>
          <p:cNvSpPr/>
          <p:nvPr/>
        </p:nvSpPr>
        <p:spPr>
          <a:xfrm>
            <a:off x="1371600" y="1463040"/>
            <a:ext cx="9417600" cy="88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5200" spc="-1" strike="noStrike">
                <a:solidFill>
                  <a:srgbClr val="ffffff"/>
                </a:solidFill>
                <a:latin typeface="Calibri"/>
                <a:ea typeface="DejaVu Sans"/>
              </a:rPr>
              <a:t>Thank You</a:t>
            </a:r>
            <a:endParaRPr b="0" lang="en-IN" sz="5200" spc="-1" strike="noStrike">
              <a:latin typeface="Arial"/>
            </a:endParaRPr>
          </a:p>
        </p:txBody>
      </p:sp>
      <p:sp>
        <p:nvSpPr>
          <p:cNvPr id="332" name="Rectangle 5"/>
          <p:cNvSpPr/>
          <p:nvPr/>
        </p:nvSpPr>
        <p:spPr>
          <a:xfrm>
            <a:off x="4114800" y="2578680"/>
            <a:ext cx="3931200" cy="6336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33" name="TextBox 6"/>
          <p:cNvSpPr/>
          <p:nvPr/>
        </p:nvSpPr>
        <p:spPr>
          <a:xfrm>
            <a:off x="1371600" y="2697480"/>
            <a:ext cx="941760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2200" spc="-1" strike="noStrike">
                <a:solidFill>
                  <a:srgbClr val="cbd5e1"/>
                </a:solidFill>
                <a:latin typeface="Calibri"/>
                <a:ea typeface="DejaVu Sans"/>
              </a:rPr>
              <a:t>Questions &amp; Demo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334" name="TextBox 7"/>
          <p:cNvSpPr/>
          <p:nvPr/>
        </p:nvSpPr>
        <p:spPr>
          <a:xfrm>
            <a:off x="1371600" y="3383280"/>
            <a:ext cx="94176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64748b"/>
                </a:solidFill>
                <a:latin typeface="Calibri"/>
                <a:ea typeface="DejaVu Sans"/>
              </a:rPr>
              <a:t>MarketMind AI  •  MVP v1.0  •  May 2026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35" name="TextBox 8"/>
          <p:cNvSpPr/>
          <p:nvPr/>
        </p:nvSpPr>
        <p:spPr>
          <a:xfrm>
            <a:off x="1371600" y="3840480"/>
            <a:ext cx="941760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38bdf8"/>
                </a:solidFill>
                <a:latin typeface="Calibri"/>
                <a:ea typeface="DejaVu Sans"/>
              </a:rPr>
              <a:t>🌐  </a:t>
            </a:r>
            <a:r>
              <a:rPr b="1" lang="en-US" sz="1600" spc="-1" strike="noStrike">
                <a:solidFill>
                  <a:srgbClr val="38bdf8"/>
                </a:solidFill>
                <a:latin typeface="Calibri"/>
                <a:ea typeface="DejaVu Sans"/>
              </a:rPr>
              <a:t>http://localhost:5050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336" name="TextBox 9"/>
          <p:cNvSpPr/>
          <p:nvPr/>
        </p:nvSpPr>
        <p:spPr>
          <a:xfrm>
            <a:off x="1371600" y="4617720"/>
            <a:ext cx="94176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64748b"/>
                </a:solidFill>
                <a:latin typeface="Calibri"/>
                <a:ea typeface="DejaVu Sans"/>
              </a:rPr>
              <a:t>Stack:  Python 3.10  ·  Flask  ·  SQLite  ·  Gemini 2.5-Flash  ·  APScheduler  ·  Gmail SMTP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37" name="TextBox 10"/>
          <p:cNvSpPr/>
          <p:nvPr/>
        </p:nvSpPr>
        <p:spPr>
          <a:xfrm>
            <a:off x="11704320" y="6492240"/>
            <a:ext cx="3650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10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237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2026-05-14T21:41:19Z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